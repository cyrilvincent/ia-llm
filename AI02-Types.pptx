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9"/>
  </p:notesMasterIdLst>
  <p:handoutMasterIdLst>
    <p:handoutMasterId r:id="rId30"/>
  </p:handoutMasterIdLst>
  <p:sldIdLst>
    <p:sldId id="264" r:id="rId2"/>
    <p:sldId id="259" r:id="rId3"/>
    <p:sldId id="344" r:id="rId4"/>
    <p:sldId id="345" r:id="rId5"/>
    <p:sldId id="288" r:id="rId6"/>
    <p:sldId id="289" r:id="rId7"/>
    <p:sldId id="290" r:id="rId8"/>
    <p:sldId id="346" r:id="rId9"/>
    <p:sldId id="291" r:id="rId10"/>
    <p:sldId id="304" r:id="rId11"/>
    <p:sldId id="305" r:id="rId12"/>
    <p:sldId id="306" r:id="rId13"/>
    <p:sldId id="307" r:id="rId14"/>
    <p:sldId id="332" r:id="rId15"/>
    <p:sldId id="266" r:id="rId16"/>
    <p:sldId id="270" r:id="rId17"/>
    <p:sldId id="272" r:id="rId18"/>
    <p:sldId id="325" r:id="rId19"/>
    <p:sldId id="343" r:id="rId20"/>
    <p:sldId id="271" r:id="rId21"/>
    <p:sldId id="347" r:id="rId22"/>
    <p:sldId id="274" r:id="rId23"/>
    <p:sldId id="275" r:id="rId24"/>
    <p:sldId id="276" r:id="rId25"/>
    <p:sldId id="277" r:id="rId26"/>
    <p:sldId id="278" r:id="rId27"/>
    <p:sldId id="262" r:id="rId28"/>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931"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Contextualiser données/compute; backpropagation (années 80).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Illustrer avec exemple de pipeline de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aussi les abréviations courantes (AUC, ROC, MSE...).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Relier à la planification classique et limites hors domaine.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Illustrer le rôle de l'apprentissage par renforcement.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Animer un débat guidé; recueillir 3 idées par sous‑groupe.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Utilisez vos propres cas; demandez aux participants leurs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une checklist projet IA à la fin de la session.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Animez un quiz rapide Vrai/Faux pour engager le groupe.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Les différents types d'IA</a:t>
            </a:r>
          </a:p>
        </p:txBody>
      </p:sp>
      <p:sp>
        <p:nvSpPr>
          <p:cNvPr id="3" name="ZoneTexte 2"/>
          <p:cNvSpPr txBox="1"/>
          <p:nvPr/>
        </p:nvSpPr>
        <p:spPr>
          <a:xfrm>
            <a:off x="4355976"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Différents types d'IA</a:t>
            </a:r>
            <a:endParaRPr dirty="0"/>
          </a:p>
        </p:txBody>
      </p:sp>
      <p:sp>
        <p:nvSpPr>
          <p:cNvPr id="3" name="Content Placeholder 2"/>
          <p:cNvSpPr>
            <a:spLocks noGrp="1"/>
          </p:cNvSpPr>
          <p:nvPr>
            <p:ph idx="1"/>
          </p:nvPr>
        </p:nvSpPr>
        <p:spPr/>
        <p:txBody>
          <a:bodyPr/>
          <a:lstStyle/>
          <a:p>
            <a:r>
              <a:rPr lang="fr-FR" dirty="0"/>
              <a:t>R</a:t>
            </a:r>
            <a:r>
              <a:rPr dirty="0" err="1"/>
              <a:t>aisonnement</a:t>
            </a:r>
            <a:r>
              <a:rPr dirty="0"/>
              <a:t> </a:t>
            </a:r>
            <a:r>
              <a:rPr dirty="0" err="1"/>
              <a:t>symbolique</a:t>
            </a:r>
            <a:endParaRPr lang="fr-FR" dirty="0"/>
          </a:p>
          <a:p>
            <a:r>
              <a:rPr lang="fr-FR" dirty="0"/>
              <a:t>Machine Learning</a:t>
            </a:r>
          </a:p>
          <a:p>
            <a:r>
              <a:rPr lang="fr-FR" dirty="0"/>
              <a:t>Deep Learning</a:t>
            </a:r>
          </a:p>
          <a:p>
            <a:r>
              <a:rPr lang="fr-FR" dirty="0"/>
              <a:t>Large </a:t>
            </a:r>
            <a:r>
              <a:rPr lang="fr-FR" dirty="0" err="1"/>
              <a:t>Language</a:t>
            </a:r>
            <a:r>
              <a:rPr lang="fr-FR" dirty="0"/>
              <a:t> Model</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3DBB9-96DF-C662-E08B-D9A580324491}"/>
              </a:ext>
            </a:extLst>
          </p:cNvPr>
          <p:cNvSpPr>
            <a:spLocks noGrp="1"/>
          </p:cNvSpPr>
          <p:nvPr>
            <p:ph type="title"/>
          </p:nvPr>
        </p:nvSpPr>
        <p:spPr/>
        <p:txBody>
          <a:bodyPr/>
          <a:lstStyle/>
          <a:p>
            <a:r>
              <a:rPr lang="fr-FR" dirty="0"/>
              <a:t>IA Symbolique</a:t>
            </a:r>
          </a:p>
        </p:txBody>
      </p:sp>
      <p:sp>
        <p:nvSpPr>
          <p:cNvPr id="3" name="Espace réservé du contenu 2">
            <a:extLst>
              <a:ext uri="{FF2B5EF4-FFF2-40B4-BE49-F238E27FC236}">
                <a16:creationId xmlns:a16="http://schemas.microsoft.com/office/drawing/2014/main" id="{38994325-9A5E-E8F5-024E-2C9BC97CFB2B}"/>
              </a:ext>
            </a:extLst>
          </p:cNvPr>
          <p:cNvSpPr>
            <a:spLocks noGrp="1"/>
          </p:cNvSpPr>
          <p:nvPr>
            <p:ph idx="1"/>
          </p:nvPr>
        </p:nvSpPr>
        <p:spPr/>
        <p:txBody>
          <a:bodyPr/>
          <a:lstStyle/>
          <a:p>
            <a:r>
              <a:rPr lang="fr-FR" dirty="0"/>
              <a:t>Systèmes basés règles</a:t>
            </a:r>
          </a:p>
          <a:p>
            <a:pPr lvl="1"/>
            <a:r>
              <a:rPr lang="fr-FR" dirty="0"/>
              <a:t>vs. systèmes appris à partir des données</a:t>
            </a:r>
          </a:p>
          <a:p>
            <a:pPr lvl="1"/>
            <a:r>
              <a:rPr lang="fr-FR" dirty="0"/>
              <a:t>Logique floue</a:t>
            </a:r>
          </a:p>
          <a:p>
            <a:pPr lvl="1"/>
            <a:r>
              <a:rPr lang="fr-FR" dirty="0"/>
              <a:t>Système expert</a:t>
            </a:r>
          </a:p>
          <a:p>
            <a:pPr lvl="1"/>
            <a:r>
              <a:rPr lang="fr-FR" dirty="0"/>
              <a:t>Orient logique</a:t>
            </a:r>
          </a:p>
        </p:txBody>
      </p:sp>
    </p:spTree>
    <p:extLst>
      <p:ext uri="{BB962C8B-B14F-4D97-AF65-F5344CB8AC3E}">
        <p14:creationId xmlns:p14="http://schemas.microsoft.com/office/powerpoint/2010/main" val="279464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1B061-52C6-9846-F0FA-7F6F59B8277C}"/>
              </a:ext>
            </a:extLst>
          </p:cNvPr>
          <p:cNvSpPr>
            <a:spLocks noGrp="1"/>
          </p:cNvSpPr>
          <p:nvPr>
            <p:ph type="title"/>
          </p:nvPr>
        </p:nvSpPr>
        <p:spPr/>
        <p:txBody>
          <a:bodyPr/>
          <a:lstStyle/>
          <a:p>
            <a:r>
              <a:rPr lang="fr-FR" dirty="0"/>
              <a:t>IA par apprentissage</a:t>
            </a:r>
          </a:p>
        </p:txBody>
      </p:sp>
      <p:sp>
        <p:nvSpPr>
          <p:cNvPr id="3" name="Espace réservé du contenu 2">
            <a:extLst>
              <a:ext uri="{FF2B5EF4-FFF2-40B4-BE49-F238E27FC236}">
                <a16:creationId xmlns:a16="http://schemas.microsoft.com/office/drawing/2014/main" id="{A5560A14-625D-B30F-F730-086C192743D8}"/>
              </a:ext>
            </a:extLst>
          </p:cNvPr>
          <p:cNvSpPr>
            <a:spLocks noGrp="1"/>
          </p:cNvSpPr>
          <p:nvPr>
            <p:ph idx="1"/>
          </p:nvPr>
        </p:nvSpPr>
        <p:spPr/>
        <p:txBody>
          <a:bodyPr/>
          <a:lstStyle/>
          <a:p>
            <a:r>
              <a:rPr lang="fr-FR" dirty="0"/>
              <a:t>Système basé sur les données</a:t>
            </a:r>
          </a:p>
          <a:p>
            <a:pPr lvl="1"/>
            <a:r>
              <a:rPr lang="fr-FR" dirty="0"/>
              <a:t>Machine Learning</a:t>
            </a:r>
          </a:p>
          <a:p>
            <a:pPr lvl="1"/>
            <a:r>
              <a:rPr lang="fr-FR" dirty="0"/>
              <a:t>Deep Learning</a:t>
            </a:r>
          </a:p>
          <a:p>
            <a:pPr lvl="1"/>
            <a:r>
              <a:rPr lang="fr-FR" dirty="0"/>
              <a:t>LLM</a:t>
            </a:r>
          </a:p>
          <a:p>
            <a:r>
              <a:rPr lang="fr-FR" dirty="0"/>
              <a:t>Basé sur un système de notation</a:t>
            </a:r>
          </a:p>
          <a:p>
            <a:pPr lvl="1"/>
            <a:r>
              <a:rPr lang="fr-FR" dirty="0" err="1"/>
              <a:t>Scoring</a:t>
            </a:r>
            <a:endParaRPr lang="fr-FR" dirty="0"/>
          </a:p>
          <a:p>
            <a:pPr lvl="1"/>
            <a:r>
              <a:rPr lang="fr-FR" dirty="0" err="1"/>
              <a:t>Accuracy</a:t>
            </a:r>
            <a:endParaRPr lang="fr-FR" dirty="0"/>
          </a:p>
        </p:txBody>
      </p:sp>
    </p:spTree>
    <p:extLst>
      <p:ext uri="{BB962C8B-B14F-4D97-AF65-F5344CB8AC3E}">
        <p14:creationId xmlns:p14="http://schemas.microsoft.com/office/powerpoint/2010/main" val="329744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Historique</a:t>
            </a:r>
            <a:endParaRPr dirty="0"/>
          </a:p>
        </p:txBody>
      </p:sp>
      <p:sp>
        <p:nvSpPr>
          <p:cNvPr id="3" name="Rectangle 2"/>
          <p:cNvSpPr/>
          <p:nvPr/>
        </p:nvSpPr>
        <p:spPr>
          <a:xfrm>
            <a:off x="640080" y="3595856"/>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138656"/>
            <a:ext cx="548640" cy="274320"/>
          </a:xfrm>
          <a:prstGeom prst="rect">
            <a:avLst/>
          </a:prstGeom>
          <a:noFill/>
        </p:spPr>
        <p:txBody>
          <a:bodyPr wrap="none">
            <a:spAutoFit/>
          </a:bodyPr>
          <a:lstStyle/>
          <a:p>
            <a:pPr algn="ctr">
              <a:defRPr sz="1200"/>
            </a:pPr>
            <a:r>
              <a:t>1980</a:t>
            </a:r>
          </a:p>
        </p:txBody>
      </p:sp>
      <p:sp>
        <p:nvSpPr>
          <p:cNvPr id="6" name="TextBox 5"/>
          <p:cNvSpPr txBox="1"/>
          <p:nvPr/>
        </p:nvSpPr>
        <p:spPr>
          <a:xfrm>
            <a:off x="-365760" y="3733016"/>
            <a:ext cx="2377440" cy="1280160"/>
          </a:xfrm>
          <a:prstGeom prst="rect">
            <a:avLst/>
          </a:prstGeom>
          <a:noFill/>
        </p:spPr>
        <p:txBody>
          <a:bodyPr wrap="none">
            <a:spAutoFit/>
          </a:bodyPr>
          <a:lstStyle/>
          <a:p>
            <a:pPr algn="ctr">
              <a:defRPr sz="1200"/>
            </a:pPr>
            <a:r>
              <a:t>Systèmes experts</a:t>
            </a:r>
          </a:p>
        </p:txBody>
      </p:sp>
      <p:sp>
        <p:nvSpPr>
          <p:cNvPr id="7" name="Oval 6"/>
          <p:cNvSpPr/>
          <p:nvPr/>
        </p:nvSpPr>
        <p:spPr>
          <a:xfrm>
            <a:off x="344424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2800" y="3138656"/>
            <a:ext cx="548640" cy="274320"/>
          </a:xfrm>
          <a:prstGeom prst="rect">
            <a:avLst/>
          </a:prstGeom>
          <a:noFill/>
        </p:spPr>
        <p:txBody>
          <a:bodyPr wrap="none">
            <a:spAutoFit/>
          </a:bodyPr>
          <a:lstStyle/>
          <a:p>
            <a:pPr algn="ctr">
              <a:defRPr sz="1200"/>
            </a:pPr>
            <a:r>
              <a:t>1987</a:t>
            </a:r>
          </a:p>
        </p:txBody>
      </p:sp>
      <p:sp>
        <p:nvSpPr>
          <p:cNvPr id="9" name="TextBox 8"/>
          <p:cNvSpPr txBox="1"/>
          <p:nvPr/>
        </p:nvSpPr>
        <p:spPr>
          <a:xfrm>
            <a:off x="2255520" y="3733016"/>
            <a:ext cx="2377440" cy="1280160"/>
          </a:xfrm>
          <a:prstGeom prst="rect">
            <a:avLst/>
          </a:prstGeom>
          <a:noFill/>
        </p:spPr>
        <p:txBody>
          <a:bodyPr wrap="none">
            <a:spAutoFit/>
          </a:bodyPr>
          <a:lstStyle/>
          <a:p>
            <a:pPr algn="ctr">
              <a:defRPr sz="1200"/>
            </a:pPr>
            <a:r>
              <a:t>Hiver de l'IA</a:t>
            </a:r>
          </a:p>
        </p:txBody>
      </p:sp>
      <p:sp>
        <p:nvSpPr>
          <p:cNvPr id="10" name="Oval 9"/>
          <p:cNvSpPr/>
          <p:nvPr/>
        </p:nvSpPr>
        <p:spPr>
          <a:xfrm>
            <a:off x="606552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74080" y="3138656"/>
            <a:ext cx="548640" cy="274320"/>
          </a:xfrm>
          <a:prstGeom prst="rect">
            <a:avLst/>
          </a:prstGeom>
          <a:noFill/>
        </p:spPr>
        <p:txBody>
          <a:bodyPr wrap="none">
            <a:spAutoFit/>
          </a:bodyPr>
          <a:lstStyle/>
          <a:p>
            <a:pPr algn="ctr">
              <a:defRPr sz="1200"/>
            </a:pPr>
            <a:r>
              <a:t>1997</a:t>
            </a:r>
          </a:p>
        </p:txBody>
      </p:sp>
      <p:sp>
        <p:nvSpPr>
          <p:cNvPr id="12" name="TextBox 11"/>
          <p:cNvSpPr txBox="1"/>
          <p:nvPr/>
        </p:nvSpPr>
        <p:spPr>
          <a:xfrm>
            <a:off x="4876800" y="3733016"/>
            <a:ext cx="2377440" cy="1280160"/>
          </a:xfrm>
          <a:prstGeom prst="rect">
            <a:avLst/>
          </a:prstGeom>
          <a:noFill/>
        </p:spPr>
        <p:txBody>
          <a:bodyPr wrap="none">
            <a:spAutoFit/>
          </a:bodyPr>
          <a:lstStyle/>
          <a:p>
            <a:pPr algn="ctr">
              <a:defRPr sz="1200"/>
            </a:pPr>
            <a:r>
              <a:t>Deep Blue bat Kasparov</a:t>
            </a:r>
          </a:p>
        </p:txBody>
      </p:sp>
      <p:sp>
        <p:nvSpPr>
          <p:cNvPr id="13" name="Oval 12"/>
          <p:cNvSpPr/>
          <p:nvPr/>
        </p:nvSpPr>
        <p:spPr>
          <a:xfrm>
            <a:off x="868680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138656"/>
            <a:ext cx="548640" cy="274320"/>
          </a:xfrm>
          <a:prstGeom prst="rect">
            <a:avLst/>
          </a:prstGeom>
          <a:noFill/>
        </p:spPr>
        <p:txBody>
          <a:bodyPr wrap="none">
            <a:spAutoFit/>
          </a:bodyPr>
          <a:lstStyle/>
          <a:p>
            <a:pPr algn="ctr">
              <a:defRPr sz="1200"/>
            </a:pPr>
            <a:r>
              <a:t>2006</a:t>
            </a:r>
          </a:p>
        </p:txBody>
      </p:sp>
      <p:sp>
        <p:nvSpPr>
          <p:cNvPr id="15" name="TextBox 14"/>
          <p:cNvSpPr txBox="1"/>
          <p:nvPr/>
        </p:nvSpPr>
        <p:spPr>
          <a:xfrm>
            <a:off x="7498080" y="3733016"/>
            <a:ext cx="2377440" cy="1280160"/>
          </a:xfrm>
          <a:prstGeom prst="rect">
            <a:avLst/>
          </a:prstGeom>
          <a:noFill/>
        </p:spPr>
        <p:txBody>
          <a:bodyPr wrap="none">
            <a:spAutoFit/>
          </a:bodyPr>
          <a:lstStyle/>
          <a:p>
            <a:pPr algn="ctr">
              <a:defRPr sz="1200"/>
            </a:pPr>
            <a:r>
              <a:t>Renaissance du deep learning</a:t>
            </a:r>
          </a:p>
        </p:txBody>
      </p:sp>
      <p:sp>
        <p:nvSpPr>
          <p:cNvPr id="16" name="Rectangle 15"/>
          <p:cNvSpPr/>
          <p:nvPr/>
        </p:nvSpPr>
        <p:spPr>
          <a:xfrm>
            <a:off x="665152" y="54680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3"/>
          <p:cNvSpPr/>
          <p:nvPr/>
        </p:nvSpPr>
        <p:spPr>
          <a:xfrm>
            <a:off x="84803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p:cNvSpPr txBox="1"/>
          <p:nvPr/>
        </p:nvSpPr>
        <p:spPr>
          <a:xfrm>
            <a:off x="756592" y="5010864"/>
            <a:ext cx="548640" cy="274320"/>
          </a:xfrm>
          <a:prstGeom prst="rect">
            <a:avLst/>
          </a:prstGeom>
          <a:noFill/>
        </p:spPr>
        <p:txBody>
          <a:bodyPr wrap="none">
            <a:spAutoFit/>
          </a:bodyPr>
          <a:lstStyle/>
          <a:p>
            <a:pPr algn="ctr">
              <a:defRPr sz="1200"/>
            </a:pPr>
            <a:r>
              <a:t>2012</a:t>
            </a:r>
          </a:p>
        </p:txBody>
      </p:sp>
      <p:sp>
        <p:nvSpPr>
          <p:cNvPr id="19" name="TextBox 5"/>
          <p:cNvSpPr txBox="1"/>
          <p:nvPr/>
        </p:nvSpPr>
        <p:spPr>
          <a:xfrm>
            <a:off x="-340688" y="5605224"/>
            <a:ext cx="2377440" cy="1280160"/>
          </a:xfrm>
          <a:prstGeom prst="rect">
            <a:avLst/>
          </a:prstGeom>
          <a:noFill/>
        </p:spPr>
        <p:txBody>
          <a:bodyPr wrap="none">
            <a:spAutoFit/>
          </a:bodyPr>
          <a:lstStyle/>
          <a:p>
            <a:pPr algn="ctr">
              <a:defRPr sz="1200"/>
            </a:pPr>
            <a:r>
              <a:t>AlexNet ImageNet</a:t>
            </a:r>
          </a:p>
        </p:txBody>
      </p:sp>
      <p:sp>
        <p:nvSpPr>
          <p:cNvPr id="20" name="Oval 6"/>
          <p:cNvSpPr/>
          <p:nvPr/>
        </p:nvSpPr>
        <p:spPr>
          <a:xfrm>
            <a:off x="346931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7"/>
          <p:cNvSpPr txBox="1"/>
          <p:nvPr/>
        </p:nvSpPr>
        <p:spPr>
          <a:xfrm>
            <a:off x="3377872" y="5010864"/>
            <a:ext cx="548640" cy="274320"/>
          </a:xfrm>
          <a:prstGeom prst="rect">
            <a:avLst/>
          </a:prstGeom>
          <a:noFill/>
        </p:spPr>
        <p:txBody>
          <a:bodyPr wrap="none">
            <a:spAutoFit/>
          </a:bodyPr>
          <a:lstStyle/>
          <a:p>
            <a:pPr algn="ctr">
              <a:defRPr sz="1200"/>
            </a:pPr>
            <a:r>
              <a:t>2016</a:t>
            </a:r>
          </a:p>
        </p:txBody>
      </p:sp>
      <p:sp>
        <p:nvSpPr>
          <p:cNvPr id="22" name="TextBox 8"/>
          <p:cNvSpPr txBox="1"/>
          <p:nvPr/>
        </p:nvSpPr>
        <p:spPr>
          <a:xfrm>
            <a:off x="2280592" y="5605224"/>
            <a:ext cx="2377440" cy="1280160"/>
          </a:xfrm>
          <a:prstGeom prst="rect">
            <a:avLst/>
          </a:prstGeom>
          <a:noFill/>
        </p:spPr>
        <p:txBody>
          <a:bodyPr wrap="none">
            <a:spAutoFit/>
          </a:bodyPr>
          <a:lstStyle/>
          <a:p>
            <a:pPr algn="ctr">
              <a:defRPr sz="1200"/>
            </a:pPr>
            <a:r>
              <a:t>AlphaGo</a:t>
            </a:r>
          </a:p>
        </p:txBody>
      </p:sp>
      <p:sp>
        <p:nvSpPr>
          <p:cNvPr id="23" name="Oval 9"/>
          <p:cNvSpPr/>
          <p:nvPr/>
        </p:nvSpPr>
        <p:spPr>
          <a:xfrm>
            <a:off x="609059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p:cNvSpPr txBox="1"/>
          <p:nvPr/>
        </p:nvSpPr>
        <p:spPr>
          <a:xfrm>
            <a:off x="5999152" y="5010864"/>
            <a:ext cx="548640" cy="274320"/>
          </a:xfrm>
          <a:prstGeom prst="rect">
            <a:avLst/>
          </a:prstGeom>
          <a:noFill/>
        </p:spPr>
        <p:txBody>
          <a:bodyPr wrap="none">
            <a:spAutoFit/>
          </a:bodyPr>
          <a:lstStyle/>
          <a:p>
            <a:pPr algn="ctr">
              <a:defRPr sz="1200"/>
            </a:pPr>
            <a:r>
              <a:t>2017</a:t>
            </a:r>
          </a:p>
        </p:txBody>
      </p:sp>
      <p:sp>
        <p:nvSpPr>
          <p:cNvPr id="25" name="TextBox 11"/>
          <p:cNvSpPr txBox="1"/>
          <p:nvPr/>
        </p:nvSpPr>
        <p:spPr>
          <a:xfrm>
            <a:off x="4901872" y="5605224"/>
            <a:ext cx="2377440" cy="1280160"/>
          </a:xfrm>
          <a:prstGeom prst="rect">
            <a:avLst/>
          </a:prstGeom>
          <a:noFill/>
        </p:spPr>
        <p:txBody>
          <a:bodyPr wrap="none">
            <a:spAutoFit/>
          </a:bodyPr>
          <a:lstStyle/>
          <a:p>
            <a:pPr algn="ctr">
              <a:defRPr sz="1200"/>
            </a:pPr>
            <a:r>
              <a:t>Transformers</a:t>
            </a:r>
          </a:p>
        </p:txBody>
      </p:sp>
      <p:sp>
        <p:nvSpPr>
          <p:cNvPr id="26" name="Oval 12"/>
          <p:cNvSpPr/>
          <p:nvPr/>
        </p:nvSpPr>
        <p:spPr>
          <a:xfrm>
            <a:off x="871187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3"/>
          <p:cNvSpPr txBox="1"/>
          <p:nvPr/>
        </p:nvSpPr>
        <p:spPr>
          <a:xfrm>
            <a:off x="8620432" y="5010864"/>
            <a:ext cx="548640" cy="274320"/>
          </a:xfrm>
          <a:prstGeom prst="rect">
            <a:avLst/>
          </a:prstGeom>
          <a:noFill/>
        </p:spPr>
        <p:txBody>
          <a:bodyPr wrap="none">
            <a:spAutoFit/>
          </a:bodyPr>
          <a:lstStyle/>
          <a:p>
            <a:pPr algn="ctr">
              <a:defRPr sz="1200"/>
            </a:pPr>
            <a:r>
              <a:t>2022</a:t>
            </a:r>
          </a:p>
        </p:txBody>
      </p:sp>
      <p:sp>
        <p:nvSpPr>
          <p:cNvPr id="28" name="TextBox 14"/>
          <p:cNvSpPr txBox="1"/>
          <p:nvPr/>
        </p:nvSpPr>
        <p:spPr>
          <a:xfrm>
            <a:off x="7523152" y="5605224"/>
            <a:ext cx="2377440" cy="1280160"/>
          </a:xfrm>
          <a:prstGeom prst="rect">
            <a:avLst/>
          </a:prstGeom>
          <a:noFill/>
        </p:spPr>
        <p:txBody>
          <a:bodyPr wrap="none">
            <a:spAutoFit/>
          </a:bodyPr>
          <a:lstStyle/>
          <a:p>
            <a:pPr algn="ctr">
              <a:defRPr sz="1200"/>
            </a:pPr>
            <a:r>
              <a:t>Générative &amp; LLMs</a:t>
            </a:r>
          </a:p>
        </p:txBody>
      </p:sp>
      <p:sp>
        <p:nvSpPr>
          <p:cNvPr id="29" name="Title 1"/>
          <p:cNvSpPr txBox="1">
            <a:spLocks/>
          </p:cNvSpPr>
          <p:nvPr/>
        </p:nvSpPr>
        <p:spPr bwMode="auto">
          <a:xfrm>
            <a:off x="493293" y="-89122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a:lstStyle>
          <a:p>
            <a:r>
              <a:rPr lang="fr-FR" kern="0"/>
              <a:t>Histoire (1950–1980)</a:t>
            </a:r>
          </a:p>
        </p:txBody>
      </p:sp>
      <p:sp>
        <p:nvSpPr>
          <p:cNvPr id="30" name="Rectangle 29"/>
          <p:cNvSpPr/>
          <p:nvPr/>
        </p:nvSpPr>
        <p:spPr>
          <a:xfrm>
            <a:off x="676173" y="18676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
          <p:cNvSpPr/>
          <p:nvPr/>
        </p:nvSpPr>
        <p:spPr>
          <a:xfrm>
            <a:off x="85905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4"/>
          <p:cNvSpPr txBox="1"/>
          <p:nvPr/>
        </p:nvSpPr>
        <p:spPr>
          <a:xfrm>
            <a:off x="767613" y="1410464"/>
            <a:ext cx="548640" cy="274320"/>
          </a:xfrm>
          <a:prstGeom prst="rect">
            <a:avLst/>
          </a:prstGeom>
          <a:noFill/>
        </p:spPr>
        <p:txBody>
          <a:bodyPr wrap="none">
            <a:spAutoFit/>
          </a:bodyPr>
          <a:lstStyle/>
          <a:p>
            <a:pPr algn="ctr">
              <a:defRPr sz="1200"/>
            </a:pPr>
            <a:r>
              <a:t>1950</a:t>
            </a:r>
          </a:p>
        </p:txBody>
      </p:sp>
      <p:sp>
        <p:nvSpPr>
          <p:cNvPr id="33" name="TextBox 5"/>
          <p:cNvSpPr txBox="1"/>
          <p:nvPr/>
        </p:nvSpPr>
        <p:spPr>
          <a:xfrm>
            <a:off x="-329667" y="2004824"/>
            <a:ext cx="2377440" cy="1280160"/>
          </a:xfrm>
          <a:prstGeom prst="rect">
            <a:avLst/>
          </a:prstGeom>
          <a:noFill/>
        </p:spPr>
        <p:txBody>
          <a:bodyPr wrap="none">
            <a:spAutoFit/>
          </a:bodyPr>
          <a:lstStyle/>
          <a:p>
            <a:pPr algn="ctr">
              <a:defRPr sz="1200"/>
            </a:pPr>
            <a:r>
              <a:t>Turing &amp; test de Turing</a:t>
            </a:r>
          </a:p>
        </p:txBody>
      </p:sp>
      <p:sp>
        <p:nvSpPr>
          <p:cNvPr id="34" name="Oval 6"/>
          <p:cNvSpPr/>
          <p:nvPr/>
        </p:nvSpPr>
        <p:spPr>
          <a:xfrm>
            <a:off x="348033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p:cNvSpPr txBox="1"/>
          <p:nvPr/>
        </p:nvSpPr>
        <p:spPr>
          <a:xfrm>
            <a:off x="3388893" y="1410464"/>
            <a:ext cx="548640" cy="274320"/>
          </a:xfrm>
          <a:prstGeom prst="rect">
            <a:avLst/>
          </a:prstGeom>
          <a:noFill/>
        </p:spPr>
        <p:txBody>
          <a:bodyPr wrap="none">
            <a:spAutoFit/>
          </a:bodyPr>
          <a:lstStyle/>
          <a:p>
            <a:pPr algn="ctr">
              <a:defRPr sz="1200"/>
            </a:pPr>
            <a:r>
              <a:t>1956</a:t>
            </a:r>
          </a:p>
        </p:txBody>
      </p:sp>
      <p:sp>
        <p:nvSpPr>
          <p:cNvPr id="36" name="TextBox 8"/>
          <p:cNvSpPr txBox="1"/>
          <p:nvPr/>
        </p:nvSpPr>
        <p:spPr>
          <a:xfrm>
            <a:off x="2291613" y="2004824"/>
            <a:ext cx="2377440" cy="1280160"/>
          </a:xfrm>
          <a:prstGeom prst="rect">
            <a:avLst/>
          </a:prstGeom>
          <a:noFill/>
        </p:spPr>
        <p:txBody>
          <a:bodyPr wrap="none">
            <a:spAutoFit/>
          </a:bodyPr>
          <a:lstStyle/>
          <a:p>
            <a:pPr algn="ctr">
              <a:defRPr sz="1200"/>
            </a:pPr>
            <a:r>
              <a:t>Dartmouth : acte de naissance</a:t>
            </a:r>
          </a:p>
        </p:txBody>
      </p:sp>
      <p:sp>
        <p:nvSpPr>
          <p:cNvPr id="37" name="Oval 9"/>
          <p:cNvSpPr/>
          <p:nvPr/>
        </p:nvSpPr>
        <p:spPr>
          <a:xfrm>
            <a:off x="610161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0"/>
          <p:cNvSpPr txBox="1"/>
          <p:nvPr/>
        </p:nvSpPr>
        <p:spPr>
          <a:xfrm>
            <a:off x="6010173" y="1410464"/>
            <a:ext cx="548640" cy="274320"/>
          </a:xfrm>
          <a:prstGeom prst="rect">
            <a:avLst/>
          </a:prstGeom>
          <a:noFill/>
        </p:spPr>
        <p:txBody>
          <a:bodyPr wrap="none">
            <a:spAutoFit/>
          </a:bodyPr>
          <a:lstStyle/>
          <a:p>
            <a:pPr algn="ctr">
              <a:defRPr sz="1200"/>
            </a:pPr>
            <a:r>
              <a:t>1960</a:t>
            </a:r>
          </a:p>
        </p:txBody>
      </p:sp>
      <p:sp>
        <p:nvSpPr>
          <p:cNvPr id="39" name="TextBox 11"/>
          <p:cNvSpPr txBox="1"/>
          <p:nvPr/>
        </p:nvSpPr>
        <p:spPr>
          <a:xfrm>
            <a:off x="4912893" y="2004824"/>
            <a:ext cx="2377440" cy="1280160"/>
          </a:xfrm>
          <a:prstGeom prst="rect">
            <a:avLst/>
          </a:prstGeom>
          <a:noFill/>
        </p:spPr>
        <p:txBody>
          <a:bodyPr wrap="none">
            <a:spAutoFit/>
          </a:bodyPr>
          <a:lstStyle/>
          <a:p>
            <a:pPr algn="ctr">
              <a:defRPr sz="1200"/>
            </a:pPr>
            <a:r>
              <a:t>IA symbolique</a:t>
            </a:r>
          </a:p>
        </p:txBody>
      </p:sp>
      <p:sp>
        <p:nvSpPr>
          <p:cNvPr id="40" name="Oval 12"/>
          <p:cNvSpPr/>
          <p:nvPr/>
        </p:nvSpPr>
        <p:spPr>
          <a:xfrm>
            <a:off x="872289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3"/>
          <p:cNvSpPr txBox="1"/>
          <p:nvPr/>
        </p:nvSpPr>
        <p:spPr>
          <a:xfrm>
            <a:off x="8631453" y="1410464"/>
            <a:ext cx="548640" cy="274320"/>
          </a:xfrm>
          <a:prstGeom prst="rect">
            <a:avLst/>
          </a:prstGeom>
          <a:noFill/>
        </p:spPr>
        <p:txBody>
          <a:bodyPr wrap="none">
            <a:spAutoFit/>
          </a:bodyPr>
          <a:lstStyle/>
          <a:p>
            <a:pPr algn="ctr">
              <a:defRPr sz="1200"/>
            </a:pPr>
            <a:r>
              <a:t>1970</a:t>
            </a:r>
          </a:p>
        </p:txBody>
      </p:sp>
      <p:sp>
        <p:nvSpPr>
          <p:cNvPr id="42" name="TextBox 14"/>
          <p:cNvSpPr txBox="1"/>
          <p:nvPr/>
        </p:nvSpPr>
        <p:spPr>
          <a:xfrm>
            <a:off x="7534173" y="2004824"/>
            <a:ext cx="2377440" cy="1280160"/>
          </a:xfrm>
          <a:prstGeom prst="rect">
            <a:avLst/>
          </a:prstGeom>
          <a:noFill/>
        </p:spPr>
        <p:txBody>
          <a:bodyPr wrap="none">
            <a:spAutoFit/>
          </a:bodyPr>
          <a:lstStyle/>
          <a:p>
            <a:pPr algn="ctr">
              <a:defRPr sz="1200"/>
            </a:pPr>
            <a:r>
              <a:t>Systèmes à règles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bons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Évolutions récentes &amp; ruptures</a:t>
            </a:r>
          </a:p>
        </p:txBody>
      </p:sp>
      <p:sp>
        <p:nvSpPr>
          <p:cNvPr id="3" name="Content Placeholder 2"/>
          <p:cNvSpPr>
            <a:spLocks noGrp="1"/>
          </p:cNvSpPr>
          <p:nvPr>
            <p:ph idx="1"/>
          </p:nvPr>
        </p:nvSpPr>
        <p:spPr/>
        <p:txBody>
          <a:bodyPr/>
          <a:lstStyle/>
          <a:p>
            <a:r>
              <a:rPr dirty="0" err="1"/>
              <a:t>Accélération</a:t>
            </a:r>
            <a:r>
              <a:rPr dirty="0"/>
              <a:t> </a:t>
            </a:r>
            <a:r>
              <a:rPr dirty="0" err="1"/>
              <a:t>matérielle</a:t>
            </a:r>
            <a:r>
              <a:rPr dirty="0"/>
              <a:t> (GPU/TPU)</a:t>
            </a:r>
            <a:endParaRPr lang="fr-FR" dirty="0"/>
          </a:p>
          <a:p>
            <a:r>
              <a:rPr lang="fr-FR" dirty="0"/>
              <a:t>P</a:t>
            </a:r>
            <a:r>
              <a:rPr dirty="0" err="1"/>
              <a:t>arallélisme</a:t>
            </a:r>
            <a:endParaRPr lang="fr-FR" dirty="0"/>
          </a:p>
          <a:p>
            <a:r>
              <a:rPr lang="fr-FR" dirty="0"/>
              <a:t>Grande quantité de données</a:t>
            </a:r>
          </a:p>
          <a:p>
            <a:r>
              <a:rPr lang="fr-FR" dirty="0"/>
              <a:t>Moyens </a:t>
            </a:r>
            <a:r>
              <a:rPr lang="fr-FR" dirty="0" err="1"/>
              <a:t>financié</a:t>
            </a:r>
            <a:r>
              <a:rPr lang="fr-FR" dirty="0"/>
              <a:t> ++</a:t>
            </a:r>
          </a:p>
          <a:p>
            <a:pPr lvl="1"/>
            <a:r>
              <a:rPr lang="fr-FR" dirty="0" err="1"/>
              <a:t>Nvidia</a:t>
            </a:r>
            <a:r>
              <a:rPr lang="fr-FR" dirty="0"/>
              <a:t>, </a:t>
            </a:r>
            <a:r>
              <a:rPr lang="fr-FR" dirty="0" err="1"/>
              <a:t>OpenAI</a:t>
            </a:r>
            <a:r>
              <a:rPr lang="fr-FR" dirty="0"/>
              <a:t>,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Terminologie &amp; définitions</a:t>
            </a:r>
          </a:p>
        </p:txBody>
      </p:sp>
      <p:graphicFrame>
        <p:nvGraphicFramePr>
          <p:cNvPr id="3" name="Table 2"/>
          <p:cNvGraphicFramePr>
            <a:graphicFrameLocks noGrp="1"/>
          </p:cNvGraphicFramePr>
          <p:nvPr/>
        </p:nvGraphicFramePr>
        <p:xfrm>
          <a:off x="457200" y="1554480"/>
          <a:ext cx="8229600" cy="454706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4072">
                <a:tc>
                  <a:txBody>
                    <a:bodyPr/>
                    <a:lstStyle/>
                    <a:p>
                      <a:pPr>
                        <a:defRPr sz="1400"/>
                      </a:pPr>
                      <a:r>
                        <a:t>Terme</a:t>
                      </a:r>
                    </a:p>
                  </a:txBody>
                  <a:tcPr/>
                </a:tc>
                <a:tc>
                  <a:txBody>
                    <a:bodyPr/>
                    <a:lstStyle/>
                    <a:p>
                      <a:pPr>
                        <a:defRPr sz="1400"/>
                      </a:pPr>
                      <a:r>
                        <a:t>Définition</a:t>
                      </a:r>
                    </a:p>
                  </a:txBody>
                  <a:tcPr/>
                </a:tc>
                <a:extLst>
                  <a:ext uri="{0D108BD9-81ED-4DB2-BD59-A6C34878D82A}">
                    <a16:rowId xmlns:a16="http://schemas.microsoft.com/office/drawing/2014/main" val="10000"/>
                  </a:ext>
                </a:extLst>
              </a:tr>
              <a:tr h="374072">
                <a:tc>
                  <a:txBody>
                    <a:bodyPr/>
                    <a:lstStyle/>
                    <a:p>
                      <a:pPr>
                        <a:defRPr sz="1400"/>
                      </a:pPr>
                      <a:r>
                        <a:t>Agent</a:t>
                      </a:r>
                    </a:p>
                  </a:txBody>
                  <a:tcPr/>
                </a:tc>
                <a:tc>
                  <a:txBody>
                    <a:bodyPr/>
                    <a:lstStyle/>
                    <a:p>
                      <a:pPr>
                        <a:defRPr sz="1400"/>
                      </a:pPr>
                      <a:r>
                        <a:t>Entité qui perçoit l'environnement et agit via une politique</a:t>
                      </a:r>
                    </a:p>
                  </a:txBody>
                  <a:tcPr/>
                </a:tc>
                <a:extLst>
                  <a:ext uri="{0D108BD9-81ED-4DB2-BD59-A6C34878D82A}">
                    <a16:rowId xmlns:a16="http://schemas.microsoft.com/office/drawing/2014/main" val="10001"/>
                  </a:ext>
                </a:extLst>
              </a:tr>
              <a:tr h="374072">
                <a:tc>
                  <a:txBody>
                    <a:bodyPr/>
                    <a:lstStyle/>
                    <a:p>
                      <a:pPr>
                        <a:defRPr sz="1400"/>
                      </a:pPr>
                      <a:r>
                        <a:t>Environnement</a:t>
                      </a:r>
                    </a:p>
                  </a:txBody>
                  <a:tcPr/>
                </a:tc>
                <a:tc>
                  <a:txBody>
                    <a:bodyPr/>
                    <a:lstStyle/>
                    <a:p>
                      <a:pPr>
                        <a:defRPr sz="1400"/>
                      </a:pPr>
                      <a:r>
                        <a:t>Monde externe observé par l'agent</a:t>
                      </a:r>
                    </a:p>
                  </a:txBody>
                  <a:tcPr/>
                </a:tc>
                <a:extLst>
                  <a:ext uri="{0D108BD9-81ED-4DB2-BD59-A6C34878D82A}">
                    <a16:rowId xmlns:a16="http://schemas.microsoft.com/office/drawing/2014/main" val="10002"/>
                  </a:ext>
                </a:extLst>
              </a:tr>
              <a:tr h="374072">
                <a:tc>
                  <a:txBody>
                    <a:bodyPr/>
                    <a:lstStyle/>
                    <a:p>
                      <a:pPr>
                        <a:defRPr sz="1400"/>
                      </a:pPr>
                      <a:r>
                        <a:t>Algorithme</a:t>
                      </a:r>
                    </a:p>
                  </a:txBody>
                  <a:tcPr/>
                </a:tc>
                <a:tc>
                  <a:txBody>
                    <a:bodyPr/>
                    <a:lstStyle/>
                    <a:p>
                      <a:pPr>
                        <a:defRPr sz="1400"/>
                      </a:pPr>
                      <a:r>
                        <a:t>Procédure de calcul transformant des entrées en sorties</a:t>
                      </a:r>
                    </a:p>
                  </a:txBody>
                  <a:tcPr/>
                </a:tc>
                <a:extLst>
                  <a:ext uri="{0D108BD9-81ED-4DB2-BD59-A6C34878D82A}">
                    <a16:rowId xmlns:a16="http://schemas.microsoft.com/office/drawing/2014/main" val="10003"/>
                  </a:ext>
                </a:extLst>
              </a:tr>
              <a:tr h="374072">
                <a:tc>
                  <a:txBody>
                    <a:bodyPr/>
                    <a:lstStyle/>
                    <a:p>
                      <a:pPr>
                        <a:defRPr sz="1400"/>
                      </a:pPr>
                      <a:r>
                        <a:t>Donnée</a:t>
                      </a:r>
                    </a:p>
                  </a:txBody>
                  <a:tcPr/>
                </a:tc>
                <a:tc>
                  <a:txBody>
                    <a:bodyPr/>
                    <a:lstStyle/>
                    <a:p>
                      <a:pPr>
                        <a:defRPr sz="1400"/>
                      </a:pPr>
                      <a:r>
                        <a:t>Observation/mesure utilisée pour l'entraînement</a:t>
                      </a:r>
                    </a:p>
                  </a:txBody>
                  <a:tcPr/>
                </a:tc>
                <a:extLst>
                  <a:ext uri="{0D108BD9-81ED-4DB2-BD59-A6C34878D82A}">
                    <a16:rowId xmlns:a16="http://schemas.microsoft.com/office/drawing/2014/main" val="10004"/>
                  </a:ext>
                </a:extLst>
              </a:tr>
              <a:tr h="374072">
                <a:tc>
                  <a:txBody>
                    <a:bodyPr/>
                    <a:lstStyle/>
                    <a:p>
                      <a:pPr>
                        <a:defRPr sz="1400"/>
                      </a:pPr>
                      <a:r>
                        <a:t>Incertitude</a:t>
                      </a:r>
                    </a:p>
                  </a:txBody>
                  <a:tcPr/>
                </a:tc>
                <a:tc>
                  <a:txBody>
                    <a:bodyPr/>
                    <a:lstStyle/>
                    <a:p>
                      <a:pPr>
                        <a:defRPr sz="1400"/>
                      </a:pPr>
                      <a:r>
                        <a:t>Imprévisibilité due au bruit, à l'incomplétude ou au modèle</a:t>
                      </a:r>
                    </a:p>
                  </a:txBody>
                  <a:tcPr/>
                </a:tc>
                <a:extLst>
                  <a:ext uri="{0D108BD9-81ED-4DB2-BD59-A6C34878D82A}">
                    <a16:rowId xmlns:a16="http://schemas.microsoft.com/office/drawing/2014/main" val="10005"/>
                  </a:ext>
                </a:extLst>
              </a:tr>
              <a:tr h="374072">
                <a:tc>
                  <a:txBody>
                    <a:bodyPr/>
                    <a:lstStyle/>
                    <a:p>
                      <a:pPr>
                        <a:defRPr sz="1400"/>
                      </a:pPr>
                      <a:r>
                        <a:t>Modèle</a:t>
                      </a:r>
                    </a:p>
                  </a:txBody>
                  <a:tcPr/>
                </a:tc>
                <a:tc>
                  <a:txBody>
                    <a:bodyPr/>
                    <a:lstStyle/>
                    <a:p>
                      <a:pPr>
                        <a:defRPr sz="1400"/>
                      </a:pPr>
                      <a:r>
                        <a:t>Fonction paramétrée apprenant une tâche</a:t>
                      </a:r>
                    </a:p>
                  </a:txBody>
                  <a:tcPr/>
                </a:tc>
                <a:extLst>
                  <a:ext uri="{0D108BD9-81ED-4DB2-BD59-A6C34878D82A}">
                    <a16:rowId xmlns:a16="http://schemas.microsoft.com/office/drawing/2014/main" val="10006"/>
                  </a:ext>
                </a:extLst>
              </a:tr>
              <a:tr h="374072">
                <a:tc>
                  <a:txBody>
                    <a:bodyPr/>
                    <a:lstStyle/>
                    <a:p>
                      <a:pPr>
                        <a:defRPr sz="1400"/>
                      </a:pPr>
                      <a:r>
                        <a:t>Paramètres</a:t>
                      </a:r>
                    </a:p>
                  </a:txBody>
                  <a:tcPr/>
                </a:tc>
                <a:tc>
                  <a:txBody>
                    <a:bodyPr/>
                    <a:lstStyle/>
                    <a:p>
                      <a:pPr>
                        <a:defRPr sz="1400"/>
                      </a:pPr>
                      <a:r>
                        <a:t>Poids internes ajustés lors de l'entraînement</a:t>
                      </a:r>
                    </a:p>
                  </a:txBody>
                  <a:tcPr/>
                </a:tc>
                <a:extLst>
                  <a:ext uri="{0D108BD9-81ED-4DB2-BD59-A6C34878D82A}">
                    <a16:rowId xmlns:a16="http://schemas.microsoft.com/office/drawing/2014/main" val="10007"/>
                  </a:ext>
                </a:extLst>
              </a:tr>
              <a:tr h="374072">
                <a:tc>
                  <a:txBody>
                    <a:bodyPr/>
                    <a:lstStyle/>
                    <a:p>
                      <a:pPr>
                        <a:defRPr sz="1400"/>
                      </a:pPr>
                      <a:r>
                        <a:t>Perte (loss)</a:t>
                      </a:r>
                    </a:p>
                  </a:txBody>
                  <a:tcPr/>
                </a:tc>
                <a:tc>
                  <a:txBody>
                    <a:bodyPr/>
                    <a:lstStyle/>
                    <a:p>
                      <a:pPr>
                        <a:defRPr sz="1400"/>
                      </a:pPr>
                      <a:r>
                        <a:t>Fonction optimisée pour apprendre</a:t>
                      </a:r>
                    </a:p>
                  </a:txBody>
                  <a:tcPr/>
                </a:tc>
                <a:extLst>
                  <a:ext uri="{0D108BD9-81ED-4DB2-BD59-A6C34878D82A}">
                    <a16:rowId xmlns:a16="http://schemas.microsoft.com/office/drawing/2014/main" val="10008"/>
                  </a:ext>
                </a:extLst>
              </a:tr>
              <a:tr h="374072">
                <a:tc>
                  <a:txBody>
                    <a:bodyPr/>
                    <a:lstStyle/>
                    <a:p>
                      <a:pPr>
                        <a:defRPr sz="1400"/>
                      </a:pPr>
                      <a:r>
                        <a:t>Politique</a:t>
                      </a:r>
                    </a:p>
                  </a:txBody>
                  <a:tcPr/>
                </a:tc>
                <a:tc>
                  <a:txBody>
                    <a:bodyPr/>
                    <a:lstStyle/>
                    <a:p>
                      <a:pPr>
                        <a:defRPr sz="1400"/>
                      </a:pPr>
                      <a:r>
                        <a:t>Stratégie d'action (RL)</a:t>
                      </a:r>
                    </a:p>
                  </a:txBody>
                  <a:tcPr/>
                </a:tc>
                <a:extLst>
                  <a:ext uri="{0D108BD9-81ED-4DB2-BD59-A6C34878D82A}">
                    <a16:rowId xmlns:a16="http://schemas.microsoft.com/office/drawing/2014/main" val="10009"/>
                  </a:ext>
                </a:extLst>
              </a:tr>
              <a:tr h="374080">
                <a:tc>
                  <a:txBody>
                    <a:bodyPr/>
                    <a:lstStyle/>
                    <a:p>
                      <a:pPr>
                        <a:defRPr sz="1400"/>
                      </a:pPr>
                      <a:r>
                        <a:t>Récompense</a:t>
                      </a:r>
                    </a:p>
                  </a:txBody>
                  <a:tcPr/>
                </a:tc>
                <a:tc>
                  <a:txBody>
                    <a:bodyPr/>
                    <a:lstStyle/>
                    <a:p>
                      <a:pPr>
                        <a:defRPr sz="1400"/>
                      </a:pPr>
                      <a:r>
                        <a:t>Signal d'objectif (RL)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Échecs</a:t>
            </a:r>
          </a:p>
        </p:txBody>
      </p:sp>
      <p:sp>
        <p:nvSpPr>
          <p:cNvPr id="3" name="Content Placeholder 2"/>
          <p:cNvSpPr>
            <a:spLocks noGrp="1"/>
          </p:cNvSpPr>
          <p:nvPr>
            <p:ph sz="half" idx="1"/>
          </p:nvPr>
        </p:nvSpPr>
        <p:spPr/>
        <p:txBody>
          <a:bodyPr/>
          <a:lstStyle/>
          <a:p>
            <a:pPr>
              <a:defRPr b="1"/>
            </a:pPr>
            <a:r>
              <a:t>Repères</a:t>
            </a:r>
          </a:p>
          <a:p>
            <a:pPr lvl="1"/>
            <a:r>
              <a:t>1960s–90s : recherche arborescente, heuristiques d'évaluation</a:t>
            </a:r>
          </a:p>
          <a:p>
            <a:pPr lvl="1"/>
            <a:r>
              <a:t>1997 : Deep Blue bat Kasparov (brute force + heuristiques)</a:t>
            </a:r>
          </a:p>
        </p:txBody>
      </p:sp>
      <p:sp>
        <p:nvSpPr>
          <p:cNvPr id="4" name="Content Placeholder 3"/>
          <p:cNvSpPr>
            <a:spLocks noGrp="1"/>
          </p:cNvSpPr>
          <p:nvPr>
            <p:ph sz="half" idx="2"/>
          </p:nvPr>
        </p:nvSpPr>
        <p:spPr/>
        <p:txBody>
          <a:bodyPr/>
          <a:lstStyle/>
          <a:p>
            <a:pPr>
              <a:defRPr b="1"/>
            </a:pPr>
            <a:r>
              <a:t>Techniques &amp; portée</a:t>
            </a:r>
          </a:p>
          <a:p>
            <a:pPr lvl="1"/>
            <a:r>
              <a:t>Concepts : minimax, élagage alpha‑bêta, tables de transposition</a:t>
            </a:r>
          </a:p>
          <a:p>
            <a:pPr lvl="1"/>
            <a:r>
              <a:t>Portée : performances superhumaines dans espaces bien définis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IA &amp; Jeux : Go</a:t>
            </a:r>
          </a:p>
        </p:txBody>
      </p:sp>
      <p:sp>
        <p:nvSpPr>
          <p:cNvPr id="3" name="Content Placeholder 2"/>
          <p:cNvSpPr>
            <a:spLocks noGrp="1"/>
          </p:cNvSpPr>
          <p:nvPr>
            <p:ph sz="half" idx="1"/>
          </p:nvPr>
        </p:nvSpPr>
        <p:spPr/>
        <p:txBody>
          <a:bodyPr/>
          <a:lstStyle/>
          <a:p>
            <a:pPr>
              <a:defRPr b="1"/>
            </a:pPr>
            <a:r>
              <a:t>Repères</a:t>
            </a:r>
          </a:p>
          <a:p>
            <a:pPr lvl="1"/>
            <a:r>
              <a:t>2016 : AlphaGo bat Lee Sedol</a:t>
            </a:r>
          </a:p>
          <a:p>
            <a:pPr lvl="1"/>
            <a:r>
              <a:t>2017 : AlphaGo Zero sans données humaines</a:t>
            </a:r>
          </a:p>
        </p:txBody>
      </p:sp>
      <p:sp>
        <p:nvSpPr>
          <p:cNvPr id="4" name="Content Placeholder 3"/>
          <p:cNvSpPr>
            <a:spLocks noGrp="1"/>
          </p:cNvSpPr>
          <p:nvPr>
            <p:ph sz="half" idx="2"/>
          </p:nvPr>
        </p:nvSpPr>
        <p:spPr/>
        <p:txBody>
          <a:bodyPr/>
          <a:lstStyle/>
          <a:p>
            <a:pPr>
              <a:defRPr b="1"/>
            </a:pPr>
            <a:r>
              <a:t>Techniques</a:t>
            </a:r>
          </a:p>
          <a:p>
            <a:pPr lvl="1"/>
            <a:r>
              <a:t>Réseaux de politiques &amp; de valeur</a:t>
            </a:r>
          </a:p>
          <a:p>
            <a:pPr lvl="1"/>
            <a:r>
              <a:t>Monte‑Carlo Tree Search (MCTS)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 que signifient ces victoires ?</a:t>
            </a:r>
          </a:p>
        </p:txBody>
      </p:sp>
      <p:sp>
        <p:nvSpPr>
          <p:cNvPr id="3" name="Content Placeholder 2"/>
          <p:cNvSpPr>
            <a:spLocks noGrp="1"/>
          </p:cNvSpPr>
          <p:nvPr>
            <p:ph idx="1"/>
          </p:nvPr>
        </p:nvSpPr>
        <p:spPr/>
        <p:txBody>
          <a:bodyPr/>
          <a:lstStyle/>
          <a:p>
            <a:r>
              <a:t>Démos de maîtrise dans des espaces fermés ≠ intelligence générale</a:t>
            </a:r>
          </a:p>
          <a:p>
            <a:r>
              <a:t>Transférabilité limitée; ingénierie lourde &amp; compute massif</a:t>
            </a:r>
          </a:p>
          <a:p>
            <a:r>
              <a:t>Leçons : recherche, perception, apprentissage, planification</a:t>
            </a:r>
          </a:p>
          <a:p>
            <a:r>
              <a:t>Implications sociétales et industrielles (benchmark, R&amp;D)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 pratique 1 : Classification</a:t>
            </a:r>
          </a:p>
        </p:txBody>
      </p:sp>
      <p:sp>
        <p:nvSpPr>
          <p:cNvPr id="3" name="Content Placeholder 2"/>
          <p:cNvSpPr>
            <a:spLocks noGrp="1"/>
          </p:cNvSpPr>
          <p:nvPr>
            <p:ph sz="half" idx="1"/>
          </p:nvPr>
        </p:nvSpPr>
        <p:spPr/>
        <p:txBody>
          <a:bodyPr/>
          <a:lstStyle/>
          <a:p>
            <a:pPr>
              <a:defRPr b="1"/>
            </a:pPr>
            <a:r>
              <a:t>Contexte</a:t>
            </a:r>
          </a:p>
          <a:p>
            <a:pPr lvl="1"/>
            <a:r>
              <a:t>Problème : classer des tickets support</a:t>
            </a:r>
          </a:p>
          <a:p>
            <a:pPr lvl="1"/>
            <a:r>
              <a:t>Données : textes, labels</a:t>
            </a:r>
          </a:p>
          <a:p>
            <a:pPr lvl="1"/>
            <a:r>
              <a:t>Métriques : F1, précision</a:t>
            </a:r>
          </a:p>
        </p:txBody>
      </p:sp>
      <p:sp>
        <p:nvSpPr>
          <p:cNvPr id="4" name="Content Placeholder 3"/>
          <p:cNvSpPr>
            <a:spLocks noGrp="1"/>
          </p:cNvSpPr>
          <p:nvPr>
            <p:ph sz="half" idx="2"/>
          </p:nvPr>
        </p:nvSpPr>
        <p:spPr/>
        <p:txBody>
          <a:bodyPr/>
          <a:lstStyle/>
          <a:p>
            <a:pPr>
              <a:defRPr b="1"/>
            </a:pPr>
            <a:r>
              <a:t>Solution &amp; risques</a:t>
            </a:r>
          </a:p>
          <a:p>
            <a:pPr lvl="1"/>
            <a:r>
              <a:t>Approche : modèle BERT léger</a:t>
            </a:r>
          </a:p>
          <a:p>
            <a:pPr lvl="1"/>
            <a:r>
              <a:t>Éthique : anonymisation, biais</a:t>
            </a:r>
          </a:p>
          <a:p>
            <a:pPr lvl="1"/>
            <a:r>
              <a:t>Déploiement : API + monitoring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2 : Vision industrielle</a:t>
            </a:r>
          </a:p>
        </p:txBody>
      </p:sp>
      <p:sp>
        <p:nvSpPr>
          <p:cNvPr id="3" name="Content Placeholder 2"/>
          <p:cNvSpPr>
            <a:spLocks noGrp="1"/>
          </p:cNvSpPr>
          <p:nvPr>
            <p:ph sz="half" idx="1"/>
          </p:nvPr>
        </p:nvSpPr>
        <p:spPr/>
        <p:txBody>
          <a:bodyPr/>
          <a:lstStyle/>
          <a:p>
            <a:pPr>
              <a:defRPr b="1"/>
            </a:pPr>
            <a:r>
              <a:t>Contexte</a:t>
            </a:r>
          </a:p>
          <a:p>
            <a:pPr lvl="1"/>
            <a:r>
              <a:t>Problème : détection de défauts</a:t>
            </a:r>
          </a:p>
          <a:p>
            <a:pPr lvl="1"/>
            <a:r>
              <a:t>Données : images annotées</a:t>
            </a:r>
          </a:p>
          <a:p>
            <a:pPr lvl="1"/>
            <a:r>
              <a:t>Métriques : mAP</a:t>
            </a:r>
          </a:p>
        </p:txBody>
      </p:sp>
      <p:sp>
        <p:nvSpPr>
          <p:cNvPr id="4" name="Content Placeholder 3"/>
          <p:cNvSpPr>
            <a:spLocks noGrp="1"/>
          </p:cNvSpPr>
          <p:nvPr>
            <p:ph sz="half" idx="2"/>
          </p:nvPr>
        </p:nvSpPr>
        <p:spPr/>
        <p:txBody>
          <a:bodyPr/>
          <a:lstStyle/>
          <a:p>
            <a:pPr>
              <a:defRPr b="1"/>
            </a:pPr>
            <a:r>
              <a:t>Solution &amp; risques</a:t>
            </a:r>
          </a:p>
          <a:p>
            <a:pPr lvl="1"/>
            <a:r>
              <a:t>Approche : CNN/transformers visuels</a:t>
            </a:r>
          </a:p>
          <a:p>
            <a:pPr lvl="1"/>
            <a:r>
              <a:t>Éthique : faux positifs</a:t>
            </a:r>
          </a:p>
          <a:p>
            <a:pPr lvl="1"/>
            <a:r>
              <a:t>MLOps : retrain périodique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 pratique 3 : Prévision</a:t>
            </a:r>
          </a:p>
        </p:txBody>
      </p:sp>
      <p:sp>
        <p:nvSpPr>
          <p:cNvPr id="3" name="Content Placeholder 2"/>
          <p:cNvSpPr>
            <a:spLocks noGrp="1"/>
          </p:cNvSpPr>
          <p:nvPr>
            <p:ph sz="half" idx="1"/>
          </p:nvPr>
        </p:nvSpPr>
        <p:spPr/>
        <p:txBody>
          <a:bodyPr/>
          <a:lstStyle/>
          <a:p>
            <a:pPr>
              <a:defRPr b="1"/>
            </a:pPr>
            <a:r>
              <a:t>Contexte</a:t>
            </a:r>
          </a:p>
          <a:p>
            <a:pPr lvl="1"/>
            <a:r>
              <a:t>Problème : séries temporelles ventes</a:t>
            </a:r>
          </a:p>
          <a:p>
            <a:pPr lvl="1"/>
            <a:r>
              <a:t>Données : historiques, promos</a:t>
            </a:r>
          </a:p>
          <a:p>
            <a:pPr lvl="1"/>
            <a:r>
              <a:t>Métriques : MAPE</a:t>
            </a:r>
          </a:p>
        </p:txBody>
      </p:sp>
      <p:sp>
        <p:nvSpPr>
          <p:cNvPr id="4" name="Content Placeholder 3"/>
          <p:cNvSpPr>
            <a:spLocks noGrp="1"/>
          </p:cNvSpPr>
          <p:nvPr>
            <p:ph sz="half" idx="2"/>
          </p:nvPr>
        </p:nvSpPr>
        <p:spPr/>
        <p:txBody>
          <a:bodyPr/>
          <a:lstStyle/>
          <a:p>
            <a:pPr>
              <a:defRPr b="1"/>
            </a:pPr>
            <a:r>
              <a:t>Solution &amp; risques</a:t>
            </a:r>
          </a:p>
          <a:p>
            <a:pPr lvl="1"/>
            <a:r>
              <a:t>Approche : modèles hybrides</a:t>
            </a:r>
          </a:p>
          <a:p>
            <a:pPr lvl="1"/>
            <a:r>
              <a:t>Éthique : transparence</a:t>
            </a:r>
          </a:p>
          <a:p>
            <a:pPr lvl="1"/>
            <a:r>
              <a:t>Déploiement : batch/temps réel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Bonnes pratiques de mise en œuvre</a:t>
            </a:r>
          </a:p>
        </p:txBody>
      </p:sp>
      <p:sp>
        <p:nvSpPr>
          <p:cNvPr id="3" name="Content Placeholder 2"/>
          <p:cNvSpPr>
            <a:spLocks noGrp="1"/>
          </p:cNvSpPr>
          <p:nvPr>
            <p:ph idx="1"/>
          </p:nvPr>
        </p:nvSpPr>
        <p:spPr/>
        <p:txBody>
          <a:bodyPr/>
          <a:lstStyle/>
          <a:p>
            <a:r>
              <a:rPr dirty="0"/>
              <a:t>Data contracts, </a:t>
            </a:r>
            <a:r>
              <a:rPr dirty="0" err="1"/>
              <a:t>qualité</a:t>
            </a:r>
            <a:r>
              <a:rPr dirty="0"/>
              <a:t> &amp; documentation</a:t>
            </a:r>
          </a:p>
          <a:p>
            <a:r>
              <a:rPr dirty="0" err="1"/>
              <a:t>Expérimentation</a:t>
            </a:r>
            <a:r>
              <a:rPr dirty="0"/>
              <a:t> </a:t>
            </a:r>
            <a:r>
              <a:rPr dirty="0" err="1"/>
              <a:t>traçable</a:t>
            </a:r>
            <a:r>
              <a:rPr dirty="0"/>
              <a:t> </a:t>
            </a:r>
            <a:endParaRPr lang="fr-FR"/>
          </a:p>
          <a:p>
            <a:r>
              <a:t>Sécurité</a:t>
            </a:r>
            <a:r>
              <a:rPr dirty="0"/>
              <a:t> &amp; </a:t>
            </a:r>
            <a:r>
              <a:rPr dirty="0" err="1"/>
              <a:t>conformité</a:t>
            </a:r>
            <a:r>
              <a:rPr dirty="0"/>
              <a:t> (RGPD, </a:t>
            </a:r>
            <a:r>
              <a:rPr dirty="0" err="1"/>
              <a:t>sécurité</a:t>
            </a:r>
            <a:r>
              <a:rPr dirty="0"/>
              <a:t> des </a:t>
            </a:r>
            <a:r>
              <a:rPr dirty="0" err="1"/>
              <a:t>clés</a:t>
            </a:r>
            <a:r>
              <a:rPr dirty="0"/>
              <a:t>)</a:t>
            </a:r>
          </a:p>
          <a:p>
            <a:r>
              <a:rPr dirty="0" err="1"/>
              <a:t>Mesure</a:t>
            </a:r>
            <a:r>
              <a:rPr dirty="0"/>
              <a:t> de </a:t>
            </a:r>
            <a:r>
              <a:rPr dirty="0" err="1"/>
              <a:t>l'impact</a:t>
            </a:r>
            <a:r>
              <a:rPr dirty="0"/>
              <a:t> &amp; </a:t>
            </a:r>
            <a:r>
              <a:rPr dirty="0" err="1"/>
              <a:t>itérations</a:t>
            </a:r>
            <a:r>
              <a:rPr dirty="0"/>
              <a:t> de </a:t>
            </a:r>
            <a:r>
              <a:rPr dirty="0" err="1"/>
              <a:t>produit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Au‑delà du buzz : mythes et réalités</a:t>
            </a:r>
          </a:p>
        </p:txBody>
      </p:sp>
      <p:graphicFrame>
        <p:nvGraphicFramePr>
          <p:cNvPr id="3" name="Table 2"/>
          <p:cNvGraphicFramePr>
            <a:graphicFrameLocks noGrp="1"/>
          </p:cNvGraphicFramePr>
          <p:nvPr/>
        </p:nvGraphicFramePr>
        <p:xfrm>
          <a:off x="457200" y="1554480"/>
          <a:ext cx="82296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87828">
                <a:tc>
                  <a:txBody>
                    <a:bodyPr/>
                    <a:lstStyle/>
                    <a:p>
                      <a:pPr>
                        <a:defRPr sz="1400"/>
                      </a:pPr>
                      <a:r>
                        <a:t>Mythe</a:t>
                      </a:r>
                    </a:p>
                  </a:txBody>
                  <a:tcPr/>
                </a:tc>
                <a:tc>
                  <a:txBody>
                    <a:bodyPr/>
                    <a:lstStyle/>
                    <a:p>
                      <a:pPr>
                        <a:defRPr sz="1400"/>
                      </a:pPr>
                      <a:r>
                        <a:t>Réalité</a:t>
                      </a:r>
                    </a:p>
                  </a:txBody>
                  <a:tcPr/>
                </a:tc>
                <a:extLst>
                  <a:ext uri="{0D108BD9-81ED-4DB2-BD59-A6C34878D82A}">
                    <a16:rowId xmlns:a16="http://schemas.microsoft.com/office/drawing/2014/main" val="10000"/>
                  </a:ext>
                </a:extLst>
              </a:tr>
              <a:tr h="587828">
                <a:tc>
                  <a:txBody>
                    <a:bodyPr/>
                    <a:lstStyle/>
                    <a:p>
                      <a:pPr>
                        <a:defRPr sz="1400"/>
                      </a:pPr>
                      <a:r>
                        <a:t>L'IA comprend comme un humain</a:t>
                      </a:r>
                    </a:p>
                  </a:txBody>
                  <a:tcPr/>
                </a:tc>
                <a:tc>
                  <a:txBody>
                    <a:bodyPr/>
                    <a:lstStyle/>
                    <a:p>
                      <a:pPr>
                        <a:defRPr sz="1400"/>
                      </a:pPr>
                      <a:r>
                        <a:t>Les modèles manipulent des corrélations et représentations; compréhension limitée</a:t>
                      </a:r>
                    </a:p>
                  </a:txBody>
                  <a:tcPr/>
                </a:tc>
                <a:extLst>
                  <a:ext uri="{0D108BD9-81ED-4DB2-BD59-A6C34878D82A}">
                    <a16:rowId xmlns:a16="http://schemas.microsoft.com/office/drawing/2014/main" val="10001"/>
                  </a:ext>
                </a:extLst>
              </a:tr>
              <a:tr h="587828">
                <a:tc>
                  <a:txBody>
                    <a:bodyPr/>
                    <a:lstStyle/>
                    <a:p>
                      <a:pPr>
                        <a:defRPr sz="1400"/>
                      </a:pPr>
                      <a:r>
                        <a:t>Plus de données suffit toujours</a:t>
                      </a:r>
                    </a:p>
                  </a:txBody>
                  <a:tcPr/>
                </a:tc>
                <a:tc>
                  <a:txBody>
                    <a:bodyPr/>
                    <a:lstStyle/>
                    <a:p>
                      <a:pPr>
                        <a:defRPr sz="1400"/>
                      </a:pPr>
                      <a:r>
                        <a:t>Qualité, diversité, représentativité et annotations sont cruciales</a:t>
                      </a:r>
                    </a:p>
                  </a:txBody>
                  <a:tcPr/>
                </a:tc>
                <a:extLst>
                  <a:ext uri="{0D108BD9-81ED-4DB2-BD59-A6C34878D82A}">
                    <a16:rowId xmlns:a16="http://schemas.microsoft.com/office/drawing/2014/main" val="10002"/>
                  </a:ext>
                </a:extLst>
              </a:tr>
              <a:tr h="587828">
                <a:tc>
                  <a:txBody>
                    <a:bodyPr/>
                    <a:lstStyle/>
                    <a:p>
                      <a:pPr>
                        <a:defRPr sz="1400"/>
                      </a:pPr>
                      <a:r>
                        <a:t>Les modèles sont neutres</a:t>
                      </a:r>
                    </a:p>
                  </a:txBody>
                  <a:tcPr/>
                </a:tc>
                <a:tc>
                  <a:txBody>
                    <a:bodyPr/>
                    <a:lstStyle/>
                    <a:p>
                      <a:pPr>
                        <a:defRPr sz="1400"/>
                      </a:pPr>
                      <a:r>
                        <a:t>Biais des données et objectifs influencent les résultats</a:t>
                      </a:r>
                    </a:p>
                  </a:txBody>
                  <a:tcPr/>
                </a:tc>
                <a:extLst>
                  <a:ext uri="{0D108BD9-81ED-4DB2-BD59-A6C34878D82A}">
                    <a16:rowId xmlns:a16="http://schemas.microsoft.com/office/drawing/2014/main" val="10003"/>
                  </a:ext>
                </a:extLst>
              </a:tr>
              <a:tr h="587828">
                <a:tc>
                  <a:txBody>
                    <a:bodyPr/>
                    <a:lstStyle/>
                    <a:p>
                      <a:pPr>
                        <a:defRPr sz="1400"/>
                      </a:pPr>
                      <a:r>
                        <a:t>L'IA remplace tous les emplois</a:t>
                      </a:r>
                    </a:p>
                  </a:txBody>
                  <a:tcPr/>
                </a:tc>
                <a:tc>
                  <a:txBody>
                    <a:bodyPr/>
                    <a:lstStyle/>
                    <a:p>
                      <a:pPr>
                        <a:defRPr sz="1400"/>
                      </a:pPr>
                      <a:r>
                        <a:t>Transformation des tâches; complémentarité humain‑IA</a:t>
                      </a:r>
                    </a:p>
                  </a:txBody>
                  <a:tcPr/>
                </a:tc>
                <a:extLst>
                  <a:ext uri="{0D108BD9-81ED-4DB2-BD59-A6C34878D82A}">
                    <a16:rowId xmlns:a16="http://schemas.microsoft.com/office/drawing/2014/main" val="10004"/>
                  </a:ext>
                </a:extLst>
              </a:tr>
              <a:tr h="587828">
                <a:tc>
                  <a:txBody>
                    <a:bodyPr/>
                    <a:lstStyle/>
                    <a:p>
                      <a:pPr>
                        <a:defRPr sz="1400"/>
                      </a:pPr>
                      <a:r>
                        <a:t>Boîte noire impénétrable</a:t>
                      </a:r>
                    </a:p>
                  </a:txBody>
                  <a:tcPr/>
                </a:tc>
                <a:tc>
                  <a:txBody>
                    <a:bodyPr/>
                    <a:lstStyle/>
                    <a:p>
                      <a:pPr>
                        <a:defRPr sz="1400"/>
                      </a:pPr>
                      <a:r>
                        <a:t>Outils d'interprétabilité existent mais ont des limites</a:t>
                      </a:r>
                    </a:p>
                  </a:txBody>
                  <a:tcPr/>
                </a:tc>
                <a:extLst>
                  <a:ext uri="{0D108BD9-81ED-4DB2-BD59-A6C34878D82A}">
                    <a16:rowId xmlns:a16="http://schemas.microsoft.com/office/drawing/2014/main" val="10005"/>
                  </a:ext>
                </a:extLst>
              </a:tr>
              <a:tr h="587832">
                <a:tc>
                  <a:txBody>
                    <a:bodyPr/>
                    <a:lstStyle/>
                    <a:p>
                      <a:pPr>
                        <a:defRPr sz="1400"/>
                      </a:pPr>
                      <a:r>
                        <a:t>AGI est imminente</a:t>
                      </a:r>
                    </a:p>
                  </a:txBody>
                  <a:tcPr/>
                </a:tc>
                <a:tc>
                  <a:txBody>
                    <a:bodyPr/>
                    <a:lstStyle/>
                    <a:p>
                      <a:pPr>
                        <a:defRPr sz="1400"/>
                      </a:pPr>
                      <a:r>
                        <a:t>Progrès notables mais défis majeurs persistent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3370</TotalTime>
  <Words>992</Words>
  <Application>Microsoft Office PowerPoint</Application>
  <PresentationFormat>Affichage à l'écran (4:3)</PresentationFormat>
  <Paragraphs>187</Paragraphs>
  <Slides>27</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27</vt:i4>
      </vt:variant>
    </vt:vector>
  </HeadingPairs>
  <TitlesOfParts>
    <vt:vector size="31" baseType="lpstr">
      <vt:lpstr>Arial</vt:lpstr>
      <vt:lpstr>Monotype Sorts</vt:lpstr>
      <vt:lpstr>Times New Roman</vt:lpstr>
      <vt:lpstr>cvc</vt:lpstr>
      <vt:lpstr>Présentation PowerPoint</vt:lpstr>
      <vt:lpstr>Différents types d'IA</vt:lpstr>
      <vt:lpstr>IA Symbolique</vt:lpstr>
      <vt:lpstr>IA par apprentissage</vt:lpstr>
      <vt:lpstr>Copier la nature ou non</vt:lpstr>
      <vt:lpstr>IA - ML - DL</vt:lpstr>
      <vt:lpstr>Machine Learning</vt:lpstr>
      <vt:lpstr>Historique</vt:lpstr>
      <vt:lpstr>Machine Learning</vt:lpstr>
      <vt:lpstr>Deep Learning</vt:lpstr>
      <vt:lpstr>Neurone</vt:lpstr>
      <vt:lpstr>Neurone</vt:lpstr>
      <vt:lpstr>Réseaux</vt:lpstr>
      <vt:lpstr>Présentation PowerPoint</vt:lpstr>
      <vt:lpstr>Évolutions récentes &amp; ruptures</vt:lpstr>
      <vt:lpstr>Terminologie &amp; définitions</vt:lpstr>
      <vt:lpstr>Workflow</vt:lpstr>
      <vt:lpstr>Yann Le Cun</vt:lpstr>
      <vt:lpstr>François Chollet</vt:lpstr>
      <vt:lpstr>IA &amp; Jeux : Échecs</vt:lpstr>
      <vt:lpstr>IA &amp; Jeux : Go</vt:lpstr>
      <vt:lpstr>Discussion : que signifient ces victoires ?</vt:lpstr>
      <vt:lpstr>Cas pratique 1 : Classification</vt:lpstr>
      <vt:lpstr>Cas pratique 2 : Vision industrielle</vt:lpstr>
      <vt:lpstr>Cas pratique 3 : Prévision</vt:lpstr>
      <vt:lpstr>Bonnes pratiques de mise en œuvre</vt:lpstr>
      <vt:lpstr>Au‑delà du buzz : mythes et réalités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241</cp:revision>
  <dcterms:created xsi:type="dcterms:W3CDTF">2000-04-10T19:33:12Z</dcterms:created>
  <dcterms:modified xsi:type="dcterms:W3CDTF">2026-04-08T10:56:17Z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