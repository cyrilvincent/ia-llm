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4"/>
  </p:notesMasterIdLst>
  <p:handoutMasterIdLst>
    <p:handoutMasterId r:id="rId15"/>
  </p:handoutMasterIdLst>
  <p:sldIdLst>
    <p:sldId id="264" r:id="rId2"/>
    <p:sldId id="334" r:id="rId3"/>
    <p:sldId id="308" r:id="rId4"/>
    <p:sldId id="309" r:id="rId5"/>
    <p:sldId id="286" r:id="rId6"/>
    <p:sldId id="287" r:id="rId7"/>
    <p:sldId id="259" r:id="rId8"/>
    <p:sldId id="289" r:id="rId9"/>
    <p:sldId id="290" r:id="rId10"/>
    <p:sldId id="346" r:id="rId11"/>
    <p:sldId id="268" r:id="rId12"/>
    <p:sldId id="269" r:id="rId13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877888" y="733425"/>
            <a:ext cx="4892675" cy="36703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Introduire distinction entre IA faible (narrow) et IA générale (AGI).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877888" y="733425"/>
            <a:ext cx="4892675" cy="36703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Contextualiser données/compute; backpropagation (années 80).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Demander des exemples métiers des participants.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877888" y="733425"/>
            <a:ext cx="4892675" cy="36703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Proposer un cadre d'évaluation des risques + mitigation.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609015" y="1869334"/>
            <a:ext cx="6400800" cy="1752600"/>
          </a:xfrm>
        </p:spPr>
        <p:txBody>
          <a:bodyPr/>
          <a:lstStyle/>
          <a:p>
            <a:pPr eaLnBrk="1" hangingPunct="1"/>
            <a:r>
              <a:rPr lang="fr-FR" altLang="fr-FR" dirty="0"/>
              <a:t>Chapitre 1</a:t>
            </a:r>
          </a:p>
          <a:p>
            <a:pPr eaLnBrk="1" hangingPunct="1"/>
            <a:r>
              <a:rPr lang="fr-FR" altLang="fr-FR" dirty="0"/>
              <a:t>Introduction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771800" y="544153"/>
            <a:ext cx="42114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Prompt engineering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BB0E3DE-7929-40C3-8F88-CAF151B25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59" y="3429000"/>
            <a:ext cx="9142310" cy="22412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3579DF-66D0-4E22-BB39-CB7A8E021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Picture 6" descr="Le rapport Villani sur l'intelligence artificielle est attendu pour janvier">
            <a:extLst>
              <a:ext uri="{FF2B5EF4-FFF2-40B4-BE49-F238E27FC236}">
                <a16:creationId xmlns:a16="http://schemas.microsoft.com/office/drawing/2014/main" id="{D868BDFA-9D78-4025-96A8-732E051C3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7250"/>
            <a:ext cx="9144000" cy="5177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7459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Difficultés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Certains problèmes sont trop complexes pour être résolus par un algorithme</a:t>
            </a:r>
          </a:p>
          <a:p>
            <a:pPr lvl="1"/>
            <a:r>
              <a:rPr lang="fr-FR" dirty="0"/>
              <a:t>Comment reconnaitre un visage ?</a:t>
            </a:r>
          </a:p>
          <a:p>
            <a:pPr lvl="1"/>
            <a:r>
              <a:rPr lang="fr-FR" dirty="0"/>
              <a:t>Comment conduire une voiture ?</a:t>
            </a:r>
          </a:p>
          <a:p>
            <a:pPr lvl="1"/>
            <a:r>
              <a:rPr lang="fr-FR" dirty="0"/>
              <a:t>Est-ce la même personne ?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Les mesures anthropométriques ne suffisent pas</a:t>
            </a:r>
          </a:p>
        </p:txBody>
      </p:sp>
      <p:pic>
        <p:nvPicPr>
          <p:cNvPr id="1026" name="Picture 2" descr="RÃ©sultat de recherche d'images pour &quot;ia reconnaissance visage katy perry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7259" y="1823841"/>
            <a:ext cx="3584552" cy="2389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Ã©sultat de recherche d'images pour &quot;deep learning  visage katy perry&quot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1851480"/>
            <a:ext cx="1821722" cy="236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4529861"/>
            <a:ext cx="3751511" cy="229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539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RÃ©sultat de recherche d'images pour &quot;voiture autonome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672"/>
            <a:ext cx="9230645" cy="5733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4982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L'intelligence artificielle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3" y="1412776"/>
            <a:ext cx="4392488" cy="5040560"/>
          </a:xfrm>
        </p:spPr>
        <p:txBody>
          <a:bodyPr/>
          <a:lstStyle/>
          <a:p>
            <a:r>
              <a:rPr lang="fr-FR" dirty="0"/>
              <a:t>l'IA est l'ensemble des théories et des techniques mises en œuvre en vue de réaliser des machines capables de simuler l'intelligence </a:t>
            </a:r>
          </a:p>
        </p:txBody>
      </p:sp>
      <p:pic>
        <p:nvPicPr>
          <p:cNvPr id="3074" name="Picture 2" descr="Image associÃ©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1412776"/>
            <a:ext cx="5238750" cy="3924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5201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 de Turing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3" y="1412776"/>
            <a:ext cx="6850928" cy="5040560"/>
          </a:xfrm>
        </p:spPr>
        <p:txBody>
          <a:bodyPr/>
          <a:lstStyle/>
          <a:p>
            <a:r>
              <a:rPr lang="fr-FR" dirty="0"/>
              <a:t>Le test de Turing est une proposition de test d’intelligence artificielle fondée sur la faculté d'une machine à imiter la conversation humaine</a:t>
            </a:r>
          </a:p>
          <a:p>
            <a:pPr lvl="1"/>
            <a:r>
              <a:rPr lang="fr-FR" dirty="0"/>
              <a:t>Ce test consiste à mettre un humain en confrontation verbale à l’aveugle avec un ordinateur et un autre humain</a:t>
            </a:r>
          </a:p>
          <a:p>
            <a:pPr lvl="1"/>
            <a:r>
              <a:rPr lang="fr-FR" dirty="0"/>
              <a:t>Si la personne qui engage les conversations n’est pas capable de dire lequel de ses interlocuteurs est un ordinateur, on peut considérer que le logiciel de l’ordinateur a passé avec succès le test</a:t>
            </a:r>
          </a:p>
        </p:txBody>
      </p:sp>
      <p:pic>
        <p:nvPicPr>
          <p:cNvPr id="4098" name="Picture 2" descr="https://upload.wikimedia.org/wikipedia/commons/thumb/e/e4/Turing_Test_version_3.png/220px-Turing_Test_version_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0441" y="2276872"/>
            <a:ext cx="2095500" cy="268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7962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Qu'est-ce que l'IA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Discipline </a:t>
            </a:r>
            <a:r>
              <a:rPr dirty="0" err="1"/>
              <a:t>visant</a:t>
            </a:r>
            <a:r>
              <a:rPr dirty="0"/>
              <a:t> à </a:t>
            </a:r>
            <a:r>
              <a:rPr dirty="0" err="1"/>
              <a:t>reproduire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augmenter des </a:t>
            </a:r>
            <a:r>
              <a:rPr dirty="0" err="1"/>
              <a:t>capacités</a:t>
            </a:r>
            <a:r>
              <a:rPr dirty="0"/>
              <a:t> </a:t>
            </a:r>
            <a:r>
              <a:rPr dirty="0" err="1"/>
              <a:t>cognitives</a:t>
            </a:r>
            <a:endParaRPr dirty="0"/>
          </a:p>
          <a:p>
            <a:r>
              <a:rPr dirty="0"/>
              <a:t>Sous‑</a:t>
            </a:r>
            <a:r>
              <a:rPr dirty="0" err="1"/>
              <a:t>domaines</a:t>
            </a:r>
            <a:endParaRPr lang="fr-FR" dirty="0"/>
          </a:p>
          <a:p>
            <a:pPr lvl="1"/>
            <a:r>
              <a:rPr lang="fr-FR" dirty="0"/>
              <a:t>R</a:t>
            </a:r>
            <a:r>
              <a:rPr dirty="0" err="1"/>
              <a:t>aisonnement</a:t>
            </a:r>
            <a:r>
              <a:rPr dirty="0"/>
              <a:t> </a:t>
            </a:r>
            <a:r>
              <a:rPr dirty="0" err="1"/>
              <a:t>symbolique</a:t>
            </a:r>
            <a:endParaRPr lang="fr-FR" dirty="0"/>
          </a:p>
          <a:p>
            <a:pPr lvl="1"/>
            <a:r>
              <a:rPr lang="fr-FR" dirty="0"/>
              <a:t>Machine Learning</a:t>
            </a:r>
          </a:p>
          <a:p>
            <a:pPr lvl="1"/>
            <a:r>
              <a:rPr lang="fr-FR" dirty="0"/>
              <a:t>Deep Learning</a:t>
            </a:r>
          </a:p>
          <a:p>
            <a:pPr lvl="1"/>
            <a:r>
              <a:rPr lang="fr-FR" dirty="0"/>
              <a:t>Large </a:t>
            </a:r>
            <a:r>
              <a:rPr lang="fr-FR" dirty="0" err="1"/>
              <a:t>Language</a:t>
            </a:r>
            <a:r>
              <a:rPr lang="fr-FR" dirty="0"/>
              <a:t> Model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IA - ML - DL</a:t>
            </a:r>
          </a:p>
        </p:txBody>
      </p:sp>
      <p:pic>
        <p:nvPicPr>
          <p:cNvPr id="1026" name="Picture 2" descr="https://www.mytectra.com/media/wysiwyg/Blog/deep-learni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41399"/>
            <a:ext cx="9144000" cy="581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9382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Machine Learning</a:t>
            </a:r>
          </a:p>
        </p:txBody>
      </p:sp>
      <p:pic>
        <p:nvPicPr>
          <p:cNvPr id="4" name="Picture 2" descr="https://thinkr.fr/wp-content/uploads/machine-learning-mem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84576"/>
            <a:ext cx="9162255" cy="4581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1893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Historique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40080" y="3595856"/>
            <a:ext cx="8229600" cy="4572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" y="3504416"/>
            <a:ext cx="182880" cy="182880"/>
          </a:xfrm>
          <a:prstGeom prst="ellipse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138656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1980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365760" y="3733016"/>
            <a:ext cx="2377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Systèmes experts</a:t>
            </a:r>
          </a:p>
        </p:txBody>
      </p:sp>
      <p:sp>
        <p:nvSpPr>
          <p:cNvPr id="7" name="Oval 6"/>
          <p:cNvSpPr/>
          <p:nvPr/>
        </p:nvSpPr>
        <p:spPr>
          <a:xfrm>
            <a:off x="3444240" y="3504416"/>
            <a:ext cx="182880" cy="182880"/>
          </a:xfrm>
          <a:prstGeom prst="ellipse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52800" y="3138656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1987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5520" y="3733016"/>
            <a:ext cx="2377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Hiver de l'IA</a:t>
            </a:r>
          </a:p>
        </p:txBody>
      </p:sp>
      <p:sp>
        <p:nvSpPr>
          <p:cNvPr id="10" name="Oval 9"/>
          <p:cNvSpPr/>
          <p:nvPr/>
        </p:nvSpPr>
        <p:spPr>
          <a:xfrm>
            <a:off x="6065520" y="3504416"/>
            <a:ext cx="182880" cy="182880"/>
          </a:xfrm>
          <a:prstGeom prst="ellipse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74080" y="3138656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1997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6800" y="3733016"/>
            <a:ext cx="2377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Deep Blue bat Kasparov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0" y="3504416"/>
            <a:ext cx="182880" cy="182880"/>
          </a:xfrm>
          <a:prstGeom prst="ellipse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0" y="3138656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2006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3733016"/>
            <a:ext cx="2377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Renaissance du deep learning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5152" y="5468064"/>
            <a:ext cx="8229600" cy="4572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3"/>
          <p:cNvSpPr/>
          <p:nvPr/>
        </p:nvSpPr>
        <p:spPr>
          <a:xfrm>
            <a:off x="848032" y="5376624"/>
            <a:ext cx="182880" cy="182880"/>
          </a:xfrm>
          <a:prstGeom prst="ellipse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4"/>
          <p:cNvSpPr txBox="1"/>
          <p:nvPr/>
        </p:nvSpPr>
        <p:spPr>
          <a:xfrm>
            <a:off x="756592" y="501086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2012</a:t>
            </a:r>
          </a:p>
        </p:txBody>
      </p:sp>
      <p:sp>
        <p:nvSpPr>
          <p:cNvPr id="19" name="TextBox 5"/>
          <p:cNvSpPr txBox="1"/>
          <p:nvPr/>
        </p:nvSpPr>
        <p:spPr>
          <a:xfrm>
            <a:off x="-340688" y="5605224"/>
            <a:ext cx="2377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AlexNet ImageNet</a:t>
            </a:r>
          </a:p>
        </p:txBody>
      </p:sp>
      <p:sp>
        <p:nvSpPr>
          <p:cNvPr id="20" name="Oval 6"/>
          <p:cNvSpPr/>
          <p:nvPr/>
        </p:nvSpPr>
        <p:spPr>
          <a:xfrm>
            <a:off x="3469312" y="5376624"/>
            <a:ext cx="182880" cy="182880"/>
          </a:xfrm>
          <a:prstGeom prst="ellipse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7"/>
          <p:cNvSpPr txBox="1"/>
          <p:nvPr/>
        </p:nvSpPr>
        <p:spPr>
          <a:xfrm>
            <a:off x="3377872" y="501086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2016</a:t>
            </a:r>
          </a:p>
        </p:txBody>
      </p:sp>
      <p:sp>
        <p:nvSpPr>
          <p:cNvPr id="22" name="TextBox 8"/>
          <p:cNvSpPr txBox="1"/>
          <p:nvPr/>
        </p:nvSpPr>
        <p:spPr>
          <a:xfrm>
            <a:off x="2280592" y="5605224"/>
            <a:ext cx="2377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AlphaGo</a:t>
            </a:r>
          </a:p>
        </p:txBody>
      </p:sp>
      <p:sp>
        <p:nvSpPr>
          <p:cNvPr id="23" name="Oval 9"/>
          <p:cNvSpPr/>
          <p:nvPr/>
        </p:nvSpPr>
        <p:spPr>
          <a:xfrm>
            <a:off x="6090592" y="5376624"/>
            <a:ext cx="182880" cy="182880"/>
          </a:xfrm>
          <a:prstGeom prst="ellipse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10"/>
          <p:cNvSpPr txBox="1"/>
          <p:nvPr/>
        </p:nvSpPr>
        <p:spPr>
          <a:xfrm>
            <a:off x="5999152" y="501086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2017</a:t>
            </a:r>
          </a:p>
        </p:txBody>
      </p:sp>
      <p:sp>
        <p:nvSpPr>
          <p:cNvPr id="25" name="TextBox 11"/>
          <p:cNvSpPr txBox="1"/>
          <p:nvPr/>
        </p:nvSpPr>
        <p:spPr>
          <a:xfrm>
            <a:off x="4901872" y="5605224"/>
            <a:ext cx="2377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Transformers</a:t>
            </a:r>
          </a:p>
        </p:txBody>
      </p:sp>
      <p:sp>
        <p:nvSpPr>
          <p:cNvPr id="26" name="Oval 12"/>
          <p:cNvSpPr/>
          <p:nvPr/>
        </p:nvSpPr>
        <p:spPr>
          <a:xfrm>
            <a:off x="8711872" y="5376624"/>
            <a:ext cx="182880" cy="182880"/>
          </a:xfrm>
          <a:prstGeom prst="ellipse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13"/>
          <p:cNvSpPr txBox="1"/>
          <p:nvPr/>
        </p:nvSpPr>
        <p:spPr>
          <a:xfrm>
            <a:off x="8620432" y="501086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2022</a:t>
            </a:r>
          </a:p>
        </p:txBody>
      </p:sp>
      <p:sp>
        <p:nvSpPr>
          <p:cNvPr id="28" name="TextBox 14"/>
          <p:cNvSpPr txBox="1"/>
          <p:nvPr/>
        </p:nvSpPr>
        <p:spPr>
          <a:xfrm>
            <a:off x="7523152" y="5605224"/>
            <a:ext cx="2377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Générative &amp; LLMs</a:t>
            </a:r>
          </a:p>
        </p:txBody>
      </p:sp>
      <p:sp>
        <p:nvSpPr>
          <p:cNvPr id="29" name="Title 1"/>
          <p:cNvSpPr txBox="1">
            <a:spLocks/>
          </p:cNvSpPr>
          <p:nvPr/>
        </p:nvSpPr>
        <p:spPr bwMode="auto">
          <a:xfrm>
            <a:off x="493293" y="-891222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fr-FR" kern="0"/>
              <a:t>Histoire (1950–1980)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173" y="1867664"/>
            <a:ext cx="8229600" cy="4572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"/>
          <p:cNvSpPr/>
          <p:nvPr/>
        </p:nvSpPr>
        <p:spPr>
          <a:xfrm>
            <a:off x="859053" y="1776224"/>
            <a:ext cx="182880" cy="182880"/>
          </a:xfrm>
          <a:prstGeom prst="ellipse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4"/>
          <p:cNvSpPr txBox="1"/>
          <p:nvPr/>
        </p:nvSpPr>
        <p:spPr>
          <a:xfrm>
            <a:off x="767613" y="141046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1950</a:t>
            </a:r>
          </a:p>
        </p:txBody>
      </p:sp>
      <p:sp>
        <p:nvSpPr>
          <p:cNvPr id="33" name="TextBox 5"/>
          <p:cNvSpPr txBox="1"/>
          <p:nvPr/>
        </p:nvSpPr>
        <p:spPr>
          <a:xfrm>
            <a:off x="-329667" y="2004824"/>
            <a:ext cx="2377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Turing &amp; test de Turing</a:t>
            </a:r>
          </a:p>
        </p:txBody>
      </p:sp>
      <p:sp>
        <p:nvSpPr>
          <p:cNvPr id="34" name="Oval 6"/>
          <p:cNvSpPr/>
          <p:nvPr/>
        </p:nvSpPr>
        <p:spPr>
          <a:xfrm>
            <a:off x="3480333" y="1776224"/>
            <a:ext cx="182880" cy="182880"/>
          </a:xfrm>
          <a:prstGeom prst="ellipse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7"/>
          <p:cNvSpPr txBox="1"/>
          <p:nvPr/>
        </p:nvSpPr>
        <p:spPr>
          <a:xfrm>
            <a:off x="3388893" y="141046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1956</a:t>
            </a:r>
          </a:p>
        </p:txBody>
      </p:sp>
      <p:sp>
        <p:nvSpPr>
          <p:cNvPr id="36" name="TextBox 8"/>
          <p:cNvSpPr txBox="1"/>
          <p:nvPr/>
        </p:nvSpPr>
        <p:spPr>
          <a:xfrm>
            <a:off x="2291613" y="2004824"/>
            <a:ext cx="2377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Dartmouth : acte de naissance</a:t>
            </a:r>
          </a:p>
        </p:txBody>
      </p:sp>
      <p:sp>
        <p:nvSpPr>
          <p:cNvPr id="37" name="Oval 9"/>
          <p:cNvSpPr/>
          <p:nvPr/>
        </p:nvSpPr>
        <p:spPr>
          <a:xfrm>
            <a:off x="6101613" y="1776224"/>
            <a:ext cx="182880" cy="182880"/>
          </a:xfrm>
          <a:prstGeom prst="ellipse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10"/>
          <p:cNvSpPr txBox="1"/>
          <p:nvPr/>
        </p:nvSpPr>
        <p:spPr>
          <a:xfrm>
            <a:off x="6010173" y="141046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1960</a:t>
            </a:r>
          </a:p>
        </p:txBody>
      </p:sp>
      <p:sp>
        <p:nvSpPr>
          <p:cNvPr id="39" name="TextBox 11"/>
          <p:cNvSpPr txBox="1"/>
          <p:nvPr/>
        </p:nvSpPr>
        <p:spPr>
          <a:xfrm>
            <a:off x="4912893" y="2004824"/>
            <a:ext cx="2377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IA symbolique</a:t>
            </a:r>
          </a:p>
        </p:txBody>
      </p:sp>
      <p:sp>
        <p:nvSpPr>
          <p:cNvPr id="40" name="Oval 12"/>
          <p:cNvSpPr/>
          <p:nvPr/>
        </p:nvSpPr>
        <p:spPr>
          <a:xfrm>
            <a:off x="8722893" y="1776224"/>
            <a:ext cx="182880" cy="182880"/>
          </a:xfrm>
          <a:prstGeom prst="ellipse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13"/>
          <p:cNvSpPr txBox="1"/>
          <p:nvPr/>
        </p:nvSpPr>
        <p:spPr>
          <a:xfrm>
            <a:off x="8631453" y="141046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1970</a:t>
            </a:r>
          </a:p>
        </p:txBody>
      </p:sp>
      <p:sp>
        <p:nvSpPr>
          <p:cNvPr id="42" name="TextBox 14"/>
          <p:cNvSpPr txBox="1"/>
          <p:nvPr/>
        </p:nvSpPr>
        <p:spPr>
          <a:xfrm>
            <a:off x="7534173" y="2004824"/>
            <a:ext cx="2377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Systèmes à règles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Potentiels de l'IA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Vision par ordinateur : détection, OCR, inspection</a:t>
            </a:r>
          </a:p>
          <a:p>
            <a:r>
              <a:t>Traitement du langage : résumé, recherche sémantique, assistants</a:t>
            </a:r>
          </a:p>
          <a:p>
            <a:r>
              <a:t>Personnalisation &amp; recommandation</a:t>
            </a:r>
          </a:p>
          <a:p>
            <a:r>
              <a:t>Optimisation industrielle &amp; maintenance prédictive</a:t>
            </a:r>
          </a:p>
          <a:p>
            <a:r>
              <a:t>Aide à la décision &amp; automatisation de processus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Limites, risques &amp; garde‑fous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Dépendance</a:t>
            </a:r>
            <a:r>
              <a:rPr dirty="0"/>
              <a:t> aux données (</a:t>
            </a:r>
            <a:r>
              <a:rPr dirty="0" err="1"/>
              <a:t>qualité</a:t>
            </a:r>
            <a:r>
              <a:rPr dirty="0"/>
              <a:t>, </a:t>
            </a:r>
            <a:r>
              <a:rPr dirty="0" err="1"/>
              <a:t>biais</a:t>
            </a:r>
            <a:r>
              <a:rPr dirty="0"/>
              <a:t>, </a:t>
            </a:r>
            <a:r>
              <a:rPr dirty="0" err="1"/>
              <a:t>dérive</a:t>
            </a:r>
            <a:r>
              <a:rPr dirty="0"/>
              <a:t>)</a:t>
            </a:r>
          </a:p>
          <a:p>
            <a:r>
              <a:rPr dirty="0" err="1"/>
              <a:t>Robustesse</a:t>
            </a:r>
            <a:r>
              <a:rPr dirty="0"/>
              <a:t>, hallucinations, </a:t>
            </a:r>
            <a:r>
              <a:rPr dirty="0" err="1"/>
              <a:t>sécurité</a:t>
            </a:r>
            <a:r>
              <a:rPr dirty="0"/>
              <a:t> (adversarial)</a:t>
            </a:r>
          </a:p>
          <a:p>
            <a:r>
              <a:rPr dirty="0" err="1"/>
              <a:t>Explicabilité</a:t>
            </a:r>
            <a:r>
              <a:rPr dirty="0"/>
              <a:t>, </a:t>
            </a:r>
            <a:r>
              <a:rPr dirty="0" err="1"/>
              <a:t>auditabilité</a:t>
            </a:r>
            <a:r>
              <a:rPr dirty="0"/>
              <a:t>, </a:t>
            </a:r>
            <a:r>
              <a:rPr dirty="0" err="1"/>
              <a:t>conformité</a:t>
            </a:r>
            <a:r>
              <a:rPr dirty="0"/>
              <a:t> (RGPD</a:t>
            </a:r>
            <a:r>
              <a:rPr lang="fr-FR" dirty="0"/>
              <a:t>, AI </a:t>
            </a:r>
            <a:r>
              <a:rPr lang="fr-FR" dirty="0" err="1"/>
              <a:t>Act</a:t>
            </a:r>
            <a:r>
              <a:rPr dirty="0"/>
              <a:t>)</a:t>
            </a:r>
          </a:p>
          <a:p>
            <a:r>
              <a:rPr dirty="0"/>
              <a:t>Impact </a:t>
            </a:r>
            <a:r>
              <a:rPr dirty="0" err="1"/>
              <a:t>environnemental</a:t>
            </a:r>
            <a:r>
              <a:rPr dirty="0"/>
              <a:t> et </a:t>
            </a:r>
            <a:r>
              <a:rPr dirty="0" err="1"/>
              <a:t>coûts</a:t>
            </a:r>
            <a:endParaRPr dirty="0"/>
          </a:p>
          <a:p>
            <a:r>
              <a:rPr dirty="0" err="1"/>
              <a:t>Risques</a:t>
            </a:r>
            <a:r>
              <a:rPr dirty="0"/>
              <a:t> </a:t>
            </a:r>
            <a:r>
              <a:rPr dirty="0" err="1"/>
              <a:t>organisationnels</a:t>
            </a:r>
            <a:r>
              <a:rPr dirty="0"/>
              <a:t> : adoption, </a:t>
            </a:r>
            <a:r>
              <a:rPr dirty="0" err="1"/>
              <a:t>compétences</a:t>
            </a:r>
            <a:r>
              <a:rPr dirty="0"/>
              <a:t>, </a:t>
            </a:r>
            <a:r>
              <a:rPr dirty="0" err="1"/>
              <a:t>éthique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3369</TotalTime>
  <Words>350</Words>
  <Application>Microsoft Office PowerPoint</Application>
  <PresentationFormat>Affichage à l'écran (4:3)</PresentationFormat>
  <Paragraphs>67</Paragraphs>
  <Slides>12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Monotype Sorts</vt:lpstr>
      <vt:lpstr>Times New Roman</vt:lpstr>
      <vt:lpstr>cvc</vt:lpstr>
      <vt:lpstr>Présentation PowerPoint</vt:lpstr>
      <vt:lpstr>Présentation PowerPoint</vt:lpstr>
      <vt:lpstr>Difficultés</vt:lpstr>
      <vt:lpstr>Présentation PowerPoint</vt:lpstr>
      <vt:lpstr>L'intelligence artificielle</vt:lpstr>
      <vt:lpstr>Test de Turing</vt:lpstr>
      <vt:lpstr>Qu'est-ce que l'IA ?</vt:lpstr>
      <vt:lpstr>IA - ML - DL</vt:lpstr>
      <vt:lpstr>Machine Learning</vt:lpstr>
      <vt:lpstr>Historique</vt:lpstr>
      <vt:lpstr>Potentiels de l'IA</vt:lpstr>
      <vt:lpstr>Limites, risques &amp; garde‑fous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240</cp:revision>
  <dcterms:created xsi:type="dcterms:W3CDTF">2000-04-10T19:33:12Z</dcterms:created>
  <dcterms:modified xsi:type="dcterms:W3CDTF">2026-03-30T11:12:29Z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