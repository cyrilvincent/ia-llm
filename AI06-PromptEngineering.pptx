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5"/>
  </p:notesMasterIdLst>
  <p:handoutMasterIdLst>
    <p:handoutMasterId r:id="rId26"/>
  </p:handoutMasterIdLst>
  <p:sldIdLst>
    <p:sldId id="264" r:id="rId2"/>
    <p:sldId id="2566" r:id="rId3"/>
    <p:sldId id="2567" r:id="rId4"/>
    <p:sldId id="2576" r:id="rId5"/>
    <p:sldId id="536" r:id="rId6"/>
    <p:sldId id="348" r:id="rId7"/>
    <p:sldId id="538" r:id="rId8"/>
    <p:sldId id="539" r:id="rId9"/>
    <p:sldId id="540" r:id="rId10"/>
    <p:sldId id="537" r:id="rId11"/>
    <p:sldId id="541" r:id="rId12"/>
    <p:sldId id="542" r:id="rId13"/>
    <p:sldId id="543" r:id="rId14"/>
    <p:sldId id="2578" r:id="rId15"/>
    <p:sldId id="2568" r:id="rId16"/>
    <p:sldId id="2569" r:id="rId17"/>
    <p:sldId id="2577" r:id="rId18"/>
    <p:sldId id="2579" r:id="rId19"/>
    <p:sldId id="2581" r:id="rId20"/>
    <p:sldId id="2582" r:id="rId21"/>
    <p:sldId id="2571" r:id="rId22"/>
    <p:sldId id="2573" r:id="rId23"/>
    <p:sldId id="2575" r:id="rId2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tion par défaut" id="{1277CF54-C2DF-475F-8EE5-679963CDF3C2}">
          <p14:sldIdLst>
            <p14:sldId id="264"/>
          </p14:sldIdLst>
        </p14:section>
        <p14:section name="Module 5 : Amusons-nous avec l’IA – Expérimentations croisées" id="{23E05826-C0AC-438E-9E3F-28A6DBC3C18F}">
          <p14:sldIdLst/>
        </p14:section>
        <p14:section name="Introduction – Décloisonner par le jeu" id="{710F597B-AC53-467D-8554-CBA89BAA9D70}">
          <p14:sldIdLst/>
        </p14:section>
        <p14:section name="Le prompt" id="{E3514188-9CB8-4B9E-A257-B982EF5C14A4}">
          <p14:sldIdLst>
            <p14:sldId id="2566"/>
            <p14:sldId id="2567"/>
            <p14:sldId id="2576"/>
          </p14:sldIdLst>
        </p14:section>
        <p14:section name="Défi – 1 prompt, 3 IA" id="{2553C4E4-1CFC-4F84-8A13-C7217EADF493}">
          <p14:sldIdLst/>
        </p14:section>
        <p14:section name="Débat – Les outils ont-ils une personnalité ?" id="{701853CE-4E18-48FC-BC74-ECE02AFD73F4}">
          <p14:sldIdLst/>
        </p14:section>
        <p14:section name="Conclusion – Apprendre en jouant" id="{09BEB27E-6DA2-43B9-8808-4FB317B40829}">
          <p14:sldIdLst>
            <p14:sldId id="536"/>
            <p14:sldId id="348"/>
            <p14:sldId id="538"/>
            <p14:sldId id="539"/>
            <p14:sldId id="540"/>
            <p14:sldId id="537"/>
            <p14:sldId id="541"/>
            <p14:sldId id="542"/>
            <p14:sldId id="543"/>
            <p14:sldId id="2578"/>
            <p14:sldId id="2568"/>
            <p14:sldId id="2569"/>
            <p14:sldId id="2577"/>
            <p14:sldId id="2579"/>
            <p14:sldId id="2581"/>
            <p14:sldId id="2582"/>
            <p14:sldId id="2571"/>
            <p14:sldId id="2573"/>
            <p14:sldId id="25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C8FF7-3CC0-4242-BC8F-D80FACD03A9B}"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fr-FR"/>
        </a:p>
      </dgm:t>
    </dgm:pt>
    <dgm:pt modelId="{34081E58-705C-4652-A718-73C893F15A30}">
      <dgm:prSet/>
      <dgm:spPr/>
      <dgm:t>
        <a:bodyPr/>
        <a:lstStyle/>
        <a:p>
          <a:pPr>
            <a:lnSpc>
              <a:spcPct val="100000"/>
            </a:lnSpc>
            <a:defRPr b="1"/>
          </a:pPr>
          <a:r>
            <a:rPr lang="fr-FR"/>
            <a:t>Qu'est-ce qu'un prompt ?</a:t>
          </a:r>
        </a:p>
      </dgm:t>
    </dgm:pt>
    <dgm:pt modelId="{6AE1414A-3AAF-49D7-9B40-264BB287C04F}" type="parTrans" cxnId="{648E7E89-3E88-4DAC-BD3A-BA71354473D5}">
      <dgm:prSet/>
      <dgm:spPr/>
      <dgm:t>
        <a:bodyPr/>
        <a:lstStyle/>
        <a:p>
          <a:endParaRPr lang="fr-FR"/>
        </a:p>
      </dgm:t>
    </dgm:pt>
    <dgm:pt modelId="{B43D019F-EDEA-4928-A7E0-6D2FE1DC0620}" type="sibTrans" cxnId="{648E7E89-3E88-4DAC-BD3A-BA71354473D5}">
      <dgm:prSet/>
      <dgm:spPr/>
      <dgm:t>
        <a:bodyPr/>
        <a:lstStyle/>
        <a:p>
          <a:pPr>
            <a:lnSpc>
              <a:spcPct val="100000"/>
            </a:lnSpc>
            <a:defRPr b="1"/>
          </a:pPr>
          <a:endParaRPr lang="fr-FR"/>
        </a:p>
      </dgm:t>
    </dgm:pt>
    <dgm:pt modelId="{60973A66-721C-47FF-86BF-C351826FAF27}">
      <dgm:prSet/>
      <dgm:spPr/>
      <dgm:t>
        <a:bodyPr/>
        <a:lstStyle/>
        <a:p>
          <a:pPr>
            <a:lnSpc>
              <a:spcPct val="100000"/>
            </a:lnSpc>
          </a:pPr>
          <a:r>
            <a:rPr lang="fr-FR"/>
            <a:t>Un prompt est une instruction ou une question donnée à une IA générative pour initier la génération de contenu.</a:t>
          </a:r>
        </a:p>
      </dgm:t>
    </dgm:pt>
    <dgm:pt modelId="{CDCBEAA4-2B12-423B-B609-31E3B5B1374E}" type="parTrans" cxnId="{8FD746E4-EB33-4EA6-8F21-B7814E384D1A}">
      <dgm:prSet/>
      <dgm:spPr/>
      <dgm:t>
        <a:bodyPr/>
        <a:lstStyle/>
        <a:p>
          <a:endParaRPr lang="fr-FR"/>
        </a:p>
      </dgm:t>
    </dgm:pt>
    <dgm:pt modelId="{DF29966E-F2C1-4F9E-BFC7-7DC938CABF9A}" type="sibTrans" cxnId="{8FD746E4-EB33-4EA6-8F21-B7814E384D1A}">
      <dgm:prSet/>
      <dgm:spPr/>
      <dgm:t>
        <a:bodyPr/>
        <a:lstStyle/>
        <a:p>
          <a:endParaRPr lang="fr-FR"/>
        </a:p>
      </dgm:t>
    </dgm:pt>
    <dgm:pt modelId="{6A82CF41-A347-4F1B-9467-E1DC3477ECCB}">
      <dgm:prSet/>
      <dgm:spPr/>
      <dgm:t>
        <a:bodyPr/>
        <a:lstStyle/>
        <a:p>
          <a:pPr>
            <a:lnSpc>
              <a:spcPct val="100000"/>
            </a:lnSpc>
            <a:defRPr b="1"/>
          </a:pPr>
          <a:r>
            <a:rPr lang="fr-FR"/>
            <a:t>Importance du prompt</a:t>
          </a:r>
        </a:p>
      </dgm:t>
    </dgm:pt>
    <dgm:pt modelId="{39496451-7D7E-45F0-8365-5D15EBF9C539}" type="parTrans" cxnId="{CA1BEE99-A9AF-4357-9005-D4BBB45C5A24}">
      <dgm:prSet/>
      <dgm:spPr/>
      <dgm:t>
        <a:bodyPr/>
        <a:lstStyle/>
        <a:p>
          <a:endParaRPr lang="fr-FR"/>
        </a:p>
      </dgm:t>
    </dgm:pt>
    <dgm:pt modelId="{1F987661-7821-4C1D-9922-12795562E394}" type="sibTrans" cxnId="{CA1BEE99-A9AF-4357-9005-D4BBB45C5A24}">
      <dgm:prSet/>
      <dgm:spPr/>
      <dgm:t>
        <a:bodyPr/>
        <a:lstStyle/>
        <a:p>
          <a:pPr>
            <a:lnSpc>
              <a:spcPct val="100000"/>
            </a:lnSpc>
            <a:defRPr b="1"/>
          </a:pPr>
          <a:endParaRPr lang="fr-FR"/>
        </a:p>
      </dgm:t>
    </dgm:pt>
    <dgm:pt modelId="{EDFD8B50-06D1-4225-9C0E-1A82A6CE353E}">
      <dgm:prSet/>
      <dgm:spPr/>
      <dgm:t>
        <a:bodyPr/>
        <a:lstStyle/>
        <a:p>
          <a:pPr>
            <a:lnSpc>
              <a:spcPct val="100000"/>
            </a:lnSpc>
          </a:pPr>
          <a:r>
            <a:rPr lang="fr-FR"/>
            <a:t>Le prompt est essentiel car il détermine la qualité et la pertinence des résultats générés par l’IA.</a:t>
          </a:r>
        </a:p>
        <a:p>
          <a:pPr>
            <a:lnSpc>
              <a:spcPct val="100000"/>
            </a:lnSpc>
          </a:pPr>
          <a:r>
            <a:rPr lang="fr-FR" b="1"/>
            <a:t>Le dialogue prompting </a:t>
          </a:r>
          <a:r>
            <a:rPr lang="fr-FR"/>
            <a:t>fonctionne aussi.</a:t>
          </a:r>
        </a:p>
      </dgm:t>
    </dgm:pt>
    <dgm:pt modelId="{B8E3DE86-3F6B-4C0C-85D2-DBFD393EC736}" type="parTrans" cxnId="{331DC7D0-776A-4188-942D-C12C6ECA2493}">
      <dgm:prSet/>
      <dgm:spPr/>
      <dgm:t>
        <a:bodyPr/>
        <a:lstStyle/>
        <a:p>
          <a:endParaRPr lang="fr-FR"/>
        </a:p>
      </dgm:t>
    </dgm:pt>
    <dgm:pt modelId="{9DC9AEF3-0E75-402C-8D8B-A6111C7247C5}" type="sibTrans" cxnId="{331DC7D0-776A-4188-942D-C12C6ECA2493}">
      <dgm:prSet/>
      <dgm:spPr/>
      <dgm:t>
        <a:bodyPr/>
        <a:lstStyle/>
        <a:p>
          <a:endParaRPr lang="fr-FR"/>
        </a:p>
      </dgm:t>
    </dgm:pt>
    <dgm:pt modelId="{B8588B30-04AF-46D8-B6B3-7117664C53A0}">
      <dgm:prSet/>
      <dgm:spPr/>
      <dgm:t>
        <a:bodyPr/>
        <a:lstStyle/>
        <a:p>
          <a:pPr>
            <a:lnSpc>
              <a:spcPct val="100000"/>
            </a:lnSpc>
            <a:defRPr b="1"/>
          </a:pPr>
          <a:r>
            <a:rPr lang="fr-FR"/>
            <a:t>Règles pour un bon prompt</a:t>
          </a:r>
        </a:p>
      </dgm:t>
    </dgm:pt>
    <dgm:pt modelId="{F0B55A59-03BD-49D9-8C3C-EC6D2357DEC4}" type="parTrans" cxnId="{B4569E72-7165-4DF6-8CF9-2C41FF15380A}">
      <dgm:prSet/>
      <dgm:spPr/>
      <dgm:t>
        <a:bodyPr/>
        <a:lstStyle/>
        <a:p>
          <a:endParaRPr lang="fr-FR"/>
        </a:p>
      </dgm:t>
    </dgm:pt>
    <dgm:pt modelId="{0E08829F-E0B0-4126-BD33-2836F17C651A}" type="sibTrans" cxnId="{B4569E72-7165-4DF6-8CF9-2C41FF15380A}">
      <dgm:prSet/>
      <dgm:spPr/>
      <dgm:t>
        <a:bodyPr/>
        <a:lstStyle/>
        <a:p>
          <a:endParaRPr lang="fr-FR"/>
        </a:p>
      </dgm:t>
    </dgm:pt>
    <dgm:pt modelId="{BDDB8E1C-6562-43FF-924E-568A5B5663AE}">
      <dgm:prSet/>
      <dgm:spPr/>
      <dgm:t>
        <a:bodyPr/>
        <a:lstStyle/>
        <a:p>
          <a:pPr>
            <a:lnSpc>
              <a:spcPct val="100000"/>
            </a:lnSpc>
          </a:pPr>
          <a:r>
            <a:rPr lang="fr-FR"/>
            <a:t>Un bon prompt doit être clair, spécifique et orienté vers l'objectif pour obtenir des réponses précises de l'IA.</a:t>
          </a:r>
        </a:p>
      </dgm:t>
    </dgm:pt>
    <dgm:pt modelId="{6E0A147D-780A-4F8F-B77A-AD37A15F31EA}" type="parTrans" cxnId="{F18616ED-0984-43CF-A1C4-2797F224554B}">
      <dgm:prSet/>
      <dgm:spPr/>
      <dgm:t>
        <a:bodyPr/>
        <a:lstStyle/>
        <a:p>
          <a:endParaRPr lang="fr-FR"/>
        </a:p>
      </dgm:t>
    </dgm:pt>
    <dgm:pt modelId="{E6609BAF-AF14-4809-93C7-2CABAA38C4F2}" type="sibTrans" cxnId="{F18616ED-0984-43CF-A1C4-2797F224554B}">
      <dgm:prSet/>
      <dgm:spPr/>
      <dgm:t>
        <a:bodyPr/>
        <a:lstStyle/>
        <a:p>
          <a:endParaRPr lang="fr-FR"/>
        </a:p>
      </dgm:t>
    </dgm:pt>
    <dgm:pt modelId="{E2DFA093-B4C4-4DEE-AD0E-783070016328}" type="pres">
      <dgm:prSet presAssocID="{4C0C8FF7-3CC0-4242-BC8F-D80FACD03A9B}" presName="Root" presStyleCnt="0">
        <dgm:presLayoutVars>
          <dgm:dir/>
          <dgm:resizeHandles val="exact"/>
        </dgm:presLayoutVars>
      </dgm:prSet>
      <dgm:spPr/>
    </dgm:pt>
    <dgm:pt modelId="{63E1954D-7CE2-4ABE-981F-36365B87BCAB}" type="pres">
      <dgm:prSet presAssocID="{34081E58-705C-4652-A718-73C893F15A30}" presName="Composite" presStyleCnt="0"/>
      <dgm:spPr/>
    </dgm:pt>
    <dgm:pt modelId="{3B52971E-8C51-4B44-92F9-C5DD27611952}" type="pres">
      <dgm:prSet presAssocID="{34081E58-705C-4652-A718-73C893F15A30}"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39658" r="345" b="5"/>
          <a:stretch/>
        </a:blipFill>
      </dgm:spPr>
      <dgm:extLst>
        <a:ext uri="{E40237B7-FDA0-4F09-8148-C483321AD2D9}">
          <dgm14:cNvPr xmlns:dgm14="http://schemas.microsoft.com/office/drawing/2010/diagram" id="0" name="" descr="Arrière-plan abstrait"/>
        </a:ext>
      </dgm:extLst>
    </dgm:pt>
    <dgm:pt modelId="{1F9DE79A-9276-4A10-9DCC-6BB453A0582C}" type="pres">
      <dgm:prSet presAssocID="{34081E58-705C-4652-A718-73C893F15A30}" presName="Subtitle" presStyleLbl="revTx" presStyleIdx="0" presStyleCnt="6">
        <dgm:presLayoutVars>
          <dgm:chMax val="0"/>
          <dgm:bulletEnabled/>
        </dgm:presLayoutVars>
      </dgm:prSet>
      <dgm:spPr/>
    </dgm:pt>
    <dgm:pt modelId="{6537B536-5FB8-4047-83F2-B0AD12F264F8}" type="pres">
      <dgm:prSet presAssocID="{34081E58-705C-4652-A718-73C893F15A30}" presName="Description" presStyleLbl="revTx" presStyleIdx="1" presStyleCnt="6">
        <dgm:presLayoutVars>
          <dgm:bulletEnabled/>
        </dgm:presLayoutVars>
      </dgm:prSet>
      <dgm:spPr/>
    </dgm:pt>
    <dgm:pt modelId="{8AEE3B48-B9B4-455A-8A03-5DA4A5FD9B98}" type="pres">
      <dgm:prSet presAssocID="{B43D019F-EDEA-4928-A7E0-6D2FE1DC0620}" presName="sibTrans" presStyleLbl="sibTrans2D1" presStyleIdx="0" presStyleCnt="0"/>
      <dgm:spPr/>
    </dgm:pt>
    <dgm:pt modelId="{C1A0ECDA-0F3E-4173-B7ED-CC938F9649EE}" type="pres">
      <dgm:prSet presAssocID="{6A82CF41-A347-4F1B-9467-E1DC3477ECCB}" presName="Composite" presStyleCnt="0"/>
      <dgm:spPr/>
    </dgm:pt>
    <dgm:pt modelId="{EA072420-4E29-4C46-9319-69959CE8C6C5}" type="pres">
      <dgm:prSet presAssocID="{6A82CF41-A347-4F1B-9467-E1DC3477ECCB}"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5394" r="32108" b="3"/>
          <a:stretch/>
        </a:blipFill>
      </dgm:spPr>
      <dgm:extLst>
        <a:ext uri="{E40237B7-FDA0-4F09-8148-C483321AD2D9}">
          <dgm14:cNvPr xmlns:dgm14="http://schemas.microsoft.com/office/drawing/2010/diagram" id="0" name="" descr="Des post-it jaunes et roses se tiennent sur un fond bleu vif. Contactez-nous écrit sur le post-it. Concept de rappel. Composition horizontale avec espace de copie."/>
        </a:ext>
      </dgm:extLst>
    </dgm:pt>
    <dgm:pt modelId="{EE72D00D-36B3-4BC5-BEDD-F0FC38A5B666}" type="pres">
      <dgm:prSet presAssocID="{6A82CF41-A347-4F1B-9467-E1DC3477ECCB}" presName="Subtitle" presStyleLbl="revTx" presStyleIdx="2" presStyleCnt="6">
        <dgm:presLayoutVars>
          <dgm:chMax val="0"/>
          <dgm:bulletEnabled/>
        </dgm:presLayoutVars>
      </dgm:prSet>
      <dgm:spPr/>
    </dgm:pt>
    <dgm:pt modelId="{A5FA9821-3743-4E94-B2BE-3111A5E1B25D}" type="pres">
      <dgm:prSet presAssocID="{6A82CF41-A347-4F1B-9467-E1DC3477ECCB}" presName="Description" presStyleLbl="revTx" presStyleIdx="3" presStyleCnt="6">
        <dgm:presLayoutVars>
          <dgm:bulletEnabled/>
        </dgm:presLayoutVars>
      </dgm:prSet>
      <dgm:spPr/>
    </dgm:pt>
    <dgm:pt modelId="{40730653-3774-4B7D-8CEF-292083EC7FCD}" type="pres">
      <dgm:prSet presAssocID="{1F987661-7821-4C1D-9922-12795562E394}" presName="sibTrans" presStyleLbl="sibTrans2D1" presStyleIdx="0" presStyleCnt="0"/>
      <dgm:spPr/>
    </dgm:pt>
    <dgm:pt modelId="{BDD6A8D4-2F71-4AC9-966B-3B516340543E}" type="pres">
      <dgm:prSet presAssocID="{B8588B30-04AF-46D8-B6B3-7117664C53A0}" presName="Composite" presStyleCnt="0"/>
      <dgm:spPr/>
    </dgm:pt>
    <dgm:pt modelId="{99907383-E18F-4CEA-A363-5F8A31C1062D}" type="pres">
      <dgm:prSet presAssocID="{B8588B30-04AF-46D8-B6B3-7117664C53A0}"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r="28001" b="1"/>
          <a:stretch/>
        </a:blipFill>
      </dgm:spPr>
      <dgm:extLst>
        <a:ext uri="{E40237B7-FDA0-4F09-8148-C483321AD2D9}">
          <dgm14:cNvPr xmlns:dgm14="http://schemas.microsoft.com/office/drawing/2010/diagram" id="0" name="" descr="sur tableau noir"/>
        </a:ext>
      </dgm:extLst>
    </dgm:pt>
    <dgm:pt modelId="{512E9FD3-76AE-4A57-8202-2F7221C32B81}" type="pres">
      <dgm:prSet presAssocID="{B8588B30-04AF-46D8-B6B3-7117664C53A0}" presName="Subtitle" presStyleLbl="revTx" presStyleIdx="4" presStyleCnt="6">
        <dgm:presLayoutVars>
          <dgm:chMax val="0"/>
          <dgm:bulletEnabled/>
        </dgm:presLayoutVars>
      </dgm:prSet>
      <dgm:spPr/>
    </dgm:pt>
    <dgm:pt modelId="{F56C6BF1-EB8F-4A7F-956A-092ABD3210E5}" type="pres">
      <dgm:prSet presAssocID="{B8588B30-04AF-46D8-B6B3-7117664C53A0}" presName="Description" presStyleLbl="revTx" presStyleIdx="5" presStyleCnt="6">
        <dgm:presLayoutVars>
          <dgm:bulletEnabled/>
        </dgm:presLayoutVars>
      </dgm:prSet>
      <dgm:spPr/>
    </dgm:pt>
  </dgm:ptLst>
  <dgm:cxnLst>
    <dgm:cxn modelId="{F5291306-1F18-4266-A5AD-029C301C9628}" type="presOf" srcId="{34081E58-705C-4652-A718-73C893F15A30}" destId="{1F9DE79A-9276-4A10-9DCC-6BB453A0582C}" srcOrd="0" destOrd="0" presId="urn:microsoft.com/office/officeart/2024/3/layout/verticalVisualTextBlock1"/>
    <dgm:cxn modelId="{CCA26F2E-6F73-4A3F-A39F-1C72C935126E}" type="presOf" srcId="{4C0C8FF7-3CC0-4242-BC8F-D80FACD03A9B}" destId="{E2DFA093-B4C4-4DEE-AD0E-783070016328}" srcOrd="0" destOrd="0" presId="urn:microsoft.com/office/officeart/2024/3/layout/verticalVisualTextBlock1"/>
    <dgm:cxn modelId="{6D80A53F-A418-49C4-B564-6A62A6FABF55}" type="presOf" srcId="{B43D019F-EDEA-4928-A7E0-6D2FE1DC0620}" destId="{8AEE3B48-B9B4-455A-8A03-5DA4A5FD9B98}" srcOrd="0" destOrd="0" presId="urn:microsoft.com/office/officeart/2024/3/layout/verticalVisualTextBlock1"/>
    <dgm:cxn modelId="{8C49E944-7B15-4FC9-8608-BC2B461E7E51}" type="presOf" srcId="{60973A66-721C-47FF-86BF-C351826FAF27}" destId="{6537B536-5FB8-4047-83F2-B0AD12F264F8}" srcOrd="0" destOrd="0" presId="urn:microsoft.com/office/officeart/2024/3/layout/verticalVisualTextBlock1"/>
    <dgm:cxn modelId="{9541F965-CD37-43B3-9256-0376773F65FC}" type="presOf" srcId="{B8588B30-04AF-46D8-B6B3-7117664C53A0}" destId="{512E9FD3-76AE-4A57-8202-2F7221C32B81}" srcOrd="0" destOrd="0" presId="urn:microsoft.com/office/officeart/2024/3/layout/verticalVisualTextBlock1"/>
    <dgm:cxn modelId="{1C4F5369-2BA8-4EFC-930E-D2218748C1D2}" type="presOf" srcId="{BDDB8E1C-6562-43FF-924E-568A5B5663AE}" destId="{F56C6BF1-EB8F-4A7F-956A-092ABD3210E5}" srcOrd="0" destOrd="0" presId="urn:microsoft.com/office/officeart/2024/3/layout/verticalVisualTextBlock1"/>
    <dgm:cxn modelId="{B4569E72-7165-4DF6-8CF9-2C41FF15380A}" srcId="{4C0C8FF7-3CC0-4242-BC8F-D80FACD03A9B}" destId="{B8588B30-04AF-46D8-B6B3-7117664C53A0}" srcOrd="2" destOrd="0" parTransId="{F0B55A59-03BD-49D9-8C3C-EC6D2357DEC4}" sibTransId="{0E08829F-E0B0-4126-BD33-2836F17C651A}"/>
    <dgm:cxn modelId="{4472AB73-265C-4225-90BB-5E51768F7620}" type="presOf" srcId="{1F987661-7821-4C1D-9922-12795562E394}" destId="{40730653-3774-4B7D-8CEF-292083EC7FCD}" srcOrd="0" destOrd="0" presId="urn:microsoft.com/office/officeart/2024/3/layout/verticalVisualTextBlock1"/>
    <dgm:cxn modelId="{07414174-5CC6-4652-8A02-E55C7B84D45C}" type="presOf" srcId="{EDFD8B50-06D1-4225-9C0E-1A82A6CE353E}" destId="{A5FA9821-3743-4E94-B2BE-3111A5E1B25D}" srcOrd="0" destOrd="0" presId="urn:microsoft.com/office/officeart/2024/3/layout/verticalVisualTextBlock1"/>
    <dgm:cxn modelId="{648E7E89-3E88-4DAC-BD3A-BA71354473D5}" srcId="{4C0C8FF7-3CC0-4242-BC8F-D80FACD03A9B}" destId="{34081E58-705C-4652-A718-73C893F15A30}" srcOrd="0" destOrd="0" parTransId="{6AE1414A-3AAF-49D7-9B40-264BB287C04F}" sibTransId="{B43D019F-EDEA-4928-A7E0-6D2FE1DC0620}"/>
    <dgm:cxn modelId="{BCB24093-5D17-4F97-918E-7F426350CFA1}" type="presOf" srcId="{6A82CF41-A347-4F1B-9467-E1DC3477ECCB}" destId="{EE72D00D-36B3-4BC5-BEDD-F0FC38A5B666}" srcOrd="0" destOrd="0" presId="urn:microsoft.com/office/officeart/2024/3/layout/verticalVisualTextBlock1"/>
    <dgm:cxn modelId="{CA1BEE99-A9AF-4357-9005-D4BBB45C5A24}" srcId="{4C0C8FF7-3CC0-4242-BC8F-D80FACD03A9B}" destId="{6A82CF41-A347-4F1B-9467-E1DC3477ECCB}" srcOrd="1" destOrd="0" parTransId="{39496451-7D7E-45F0-8365-5D15EBF9C539}" sibTransId="{1F987661-7821-4C1D-9922-12795562E394}"/>
    <dgm:cxn modelId="{331DC7D0-776A-4188-942D-C12C6ECA2493}" srcId="{6A82CF41-A347-4F1B-9467-E1DC3477ECCB}" destId="{EDFD8B50-06D1-4225-9C0E-1A82A6CE353E}" srcOrd="0" destOrd="0" parTransId="{B8E3DE86-3F6B-4C0C-85D2-DBFD393EC736}" sibTransId="{9DC9AEF3-0E75-402C-8D8B-A6111C7247C5}"/>
    <dgm:cxn modelId="{8FD746E4-EB33-4EA6-8F21-B7814E384D1A}" srcId="{34081E58-705C-4652-A718-73C893F15A30}" destId="{60973A66-721C-47FF-86BF-C351826FAF27}" srcOrd="0" destOrd="0" parTransId="{CDCBEAA4-2B12-423B-B609-31E3B5B1374E}" sibTransId="{DF29966E-F2C1-4F9E-BFC7-7DC938CABF9A}"/>
    <dgm:cxn modelId="{F18616ED-0984-43CF-A1C4-2797F224554B}" srcId="{B8588B30-04AF-46D8-B6B3-7117664C53A0}" destId="{BDDB8E1C-6562-43FF-924E-568A5B5663AE}" srcOrd="0" destOrd="0" parTransId="{6E0A147D-780A-4F8F-B77A-AD37A15F31EA}" sibTransId="{E6609BAF-AF14-4809-93C7-2CABAA38C4F2}"/>
    <dgm:cxn modelId="{63C84A89-4A36-44BA-AA4E-2A40F0298C3D}" type="presParOf" srcId="{E2DFA093-B4C4-4DEE-AD0E-783070016328}" destId="{63E1954D-7CE2-4ABE-981F-36365B87BCAB}" srcOrd="0" destOrd="0" presId="urn:microsoft.com/office/officeart/2024/3/layout/verticalVisualTextBlock1"/>
    <dgm:cxn modelId="{74D0C7D2-3EC6-468D-9F8A-6834BAB48E66}" type="presParOf" srcId="{63E1954D-7CE2-4ABE-981F-36365B87BCAB}" destId="{3B52971E-8C51-4B44-92F9-C5DD27611952}" srcOrd="0" destOrd="0" presId="urn:microsoft.com/office/officeart/2024/3/layout/verticalVisualTextBlock1"/>
    <dgm:cxn modelId="{3717DA1D-B4B8-4745-904E-F1A5613DCDC6}" type="presParOf" srcId="{63E1954D-7CE2-4ABE-981F-36365B87BCAB}" destId="{1F9DE79A-9276-4A10-9DCC-6BB453A0582C}" srcOrd="1" destOrd="0" presId="urn:microsoft.com/office/officeart/2024/3/layout/verticalVisualTextBlock1"/>
    <dgm:cxn modelId="{15E81FF9-BA02-4AB9-BA8F-856BACDB748E}" type="presParOf" srcId="{63E1954D-7CE2-4ABE-981F-36365B87BCAB}" destId="{6537B536-5FB8-4047-83F2-B0AD12F264F8}" srcOrd="2" destOrd="0" presId="urn:microsoft.com/office/officeart/2024/3/layout/verticalVisualTextBlock1"/>
    <dgm:cxn modelId="{47FFC23C-5CF8-49DF-BCB4-D69DB9DA60A7}" type="presParOf" srcId="{E2DFA093-B4C4-4DEE-AD0E-783070016328}" destId="{8AEE3B48-B9B4-455A-8A03-5DA4A5FD9B98}" srcOrd="1" destOrd="0" presId="urn:microsoft.com/office/officeart/2024/3/layout/verticalVisualTextBlock1"/>
    <dgm:cxn modelId="{11756200-B9BC-45F2-BB55-3B8A2A17CC21}" type="presParOf" srcId="{E2DFA093-B4C4-4DEE-AD0E-783070016328}" destId="{C1A0ECDA-0F3E-4173-B7ED-CC938F9649EE}" srcOrd="2" destOrd="0" presId="urn:microsoft.com/office/officeart/2024/3/layout/verticalVisualTextBlock1"/>
    <dgm:cxn modelId="{CC74BD5B-DCB5-49A6-89FA-C79D8E6EF797}" type="presParOf" srcId="{C1A0ECDA-0F3E-4173-B7ED-CC938F9649EE}" destId="{EA072420-4E29-4C46-9319-69959CE8C6C5}" srcOrd="0" destOrd="0" presId="urn:microsoft.com/office/officeart/2024/3/layout/verticalVisualTextBlock1"/>
    <dgm:cxn modelId="{14A47B26-2F0D-442A-AAA0-A0499018C8F3}" type="presParOf" srcId="{C1A0ECDA-0F3E-4173-B7ED-CC938F9649EE}" destId="{EE72D00D-36B3-4BC5-BEDD-F0FC38A5B666}" srcOrd="1" destOrd="0" presId="urn:microsoft.com/office/officeart/2024/3/layout/verticalVisualTextBlock1"/>
    <dgm:cxn modelId="{0B5F4858-01EE-40E0-B7F1-890EFAB4093F}" type="presParOf" srcId="{C1A0ECDA-0F3E-4173-B7ED-CC938F9649EE}" destId="{A5FA9821-3743-4E94-B2BE-3111A5E1B25D}" srcOrd="2" destOrd="0" presId="urn:microsoft.com/office/officeart/2024/3/layout/verticalVisualTextBlock1"/>
    <dgm:cxn modelId="{B4E91821-9143-4339-AADE-02FAB11AC5E3}" type="presParOf" srcId="{E2DFA093-B4C4-4DEE-AD0E-783070016328}" destId="{40730653-3774-4B7D-8CEF-292083EC7FCD}" srcOrd="3" destOrd="0" presId="urn:microsoft.com/office/officeart/2024/3/layout/verticalVisualTextBlock1"/>
    <dgm:cxn modelId="{08F172E6-23F3-4222-9157-551D722F08D5}" type="presParOf" srcId="{E2DFA093-B4C4-4DEE-AD0E-783070016328}" destId="{BDD6A8D4-2F71-4AC9-966B-3B516340543E}" srcOrd="4" destOrd="0" presId="urn:microsoft.com/office/officeart/2024/3/layout/verticalVisualTextBlock1"/>
    <dgm:cxn modelId="{2EF9ED79-92BD-4273-BC57-508E80D7DB04}" type="presParOf" srcId="{BDD6A8D4-2F71-4AC9-966B-3B516340543E}" destId="{99907383-E18F-4CEA-A363-5F8A31C1062D}" srcOrd="0" destOrd="0" presId="urn:microsoft.com/office/officeart/2024/3/layout/verticalVisualTextBlock1"/>
    <dgm:cxn modelId="{0A54C419-BCDA-4354-BA1D-D60C07D4C2A2}" type="presParOf" srcId="{BDD6A8D4-2F71-4AC9-966B-3B516340543E}" destId="{512E9FD3-76AE-4A57-8202-2F7221C32B81}" srcOrd="1" destOrd="0" presId="urn:microsoft.com/office/officeart/2024/3/layout/verticalVisualTextBlock1"/>
    <dgm:cxn modelId="{798F5810-D6A6-4447-880F-77D50FD43B72}" type="presParOf" srcId="{BDD6A8D4-2F71-4AC9-966B-3B516340543E}" destId="{F56C6BF1-EB8F-4A7F-956A-092ABD3210E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8EA8A4-B1FE-444E-84F2-712276A1F88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3D6BFB1-6DED-45F2-B34C-C002D4EC04E3}">
      <dgm:prSet/>
      <dgm:spPr/>
      <dgm:t>
        <a:bodyPr/>
        <a:lstStyle/>
        <a:p>
          <a:r>
            <a:rPr lang="fr-FR"/>
            <a:t>Faire sa biographie</a:t>
          </a:r>
          <a:endParaRPr lang="en-US"/>
        </a:p>
      </dgm:t>
    </dgm:pt>
    <dgm:pt modelId="{B0CC5108-4083-44F9-BF42-28D86A4EB33B}" type="parTrans" cxnId="{525A9830-9888-44AE-8910-CAEB021FCDCD}">
      <dgm:prSet/>
      <dgm:spPr/>
      <dgm:t>
        <a:bodyPr/>
        <a:lstStyle/>
        <a:p>
          <a:endParaRPr lang="en-US"/>
        </a:p>
      </dgm:t>
    </dgm:pt>
    <dgm:pt modelId="{501BACFD-0AF0-4AFF-B7DB-189A51FDE0D9}" type="sibTrans" cxnId="{525A9830-9888-44AE-8910-CAEB021FCDCD}">
      <dgm:prSet/>
      <dgm:spPr/>
      <dgm:t>
        <a:bodyPr/>
        <a:lstStyle/>
        <a:p>
          <a:endParaRPr lang="en-US"/>
        </a:p>
      </dgm:t>
    </dgm:pt>
    <dgm:pt modelId="{67D61F57-9B8A-4781-BC78-94A771F34517}">
      <dgm:prSet/>
      <dgm:spPr/>
      <dgm:t>
        <a:bodyPr/>
        <a:lstStyle/>
        <a:p>
          <a:r>
            <a:rPr lang="fr-FR"/>
            <a:t>Donne 3 idées originales de cadeau pour… (à vous de choisir)</a:t>
          </a:r>
          <a:endParaRPr lang="en-US"/>
        </a:p>
      </dgm:t>
    </dgm:pt>
    <dgm:pt modelId="{6242CAF1-E139-4589-B18E-E5CC6C3235B2}" type="parTrans" cxnId="{5A18D708-D904-4B5F-AA36-9D272DEB067C}">
      <dgm:prSet/>
      <dgm:spPr/>
      <dgm:t>
        <a:bodyPr/>
        <a:lstStyle/>
        <a:p>
          <a:endParaRPr lang="en-US"/>
        </a:p>
      </dgm:t>
    </dgm:pt>
    <dgm:pt modelId="{0C2054EC-2E63-4900-9BE5-8EE22AE24A1E}" type="sibTrans" cxnId="{5A18D708-D904-4B5F-AA36-9D272DEB067C}">
      <dgm:prSet/>
      <dgm:spPr/>
      <dgm:t>
        <a:bodyPr/>
        <a:lstStyle/>
        <a:p>
          <a:endParaRPr lang="en-US"/>
        </a:p>
      </dgm:t>
    </dgm:pt>
    <dgm:pt modelId="{855497B2-CB56-4D7F-9088-1DD91369D25B}">
      <dgm:prSet/>
      <dgm:spPr/>
      <dgm:t>
        <a:bodyPr/>
        <a:lstStyle/>
        <a:p>
          <a:r>
            <a:rPr lang="fr-FR"/>
            <a:t>Rédige une lettre de motivation pour devenir super héros </a:t>
          </a:r>
          <a:endParaRPr lang="en-US"/>
        </a:p>
      </dgm:t>
    </dgm:pt>
    <dgm:pt modelId="{5B20EEC0-388D-416D-AE73-F889359D0026}" type="parTrans" cxnId="{8CEC894F-A5C7-4949-B3F2-78563F48C159}">
      <dgm:prSet/>
      <dgm:spPr/>
      <dgm:t>
        <a:bodyPr/>
        <a:lstStyle/>
        <a:p>
          <a:endParaRPr lang="en-US"/>
        </a:p>
      </dgm:t>
    </dgm:pt>
    <dgm:pt modelId="{853EF1BB-75FC-4BED-82D3-76CFA3DE5E27}" type="sibTrans" cxnId="{8CEC894F-A5C7-4949-B3F2-78563F48C159}">
      <dgm:prSet/>
      <dgm:spPr/>
      <dgm:t>
        <a:bodyPr/>
        <a:lstStyle/>
        <a:p>
          <a:endParaRPr lang="en-US"/>
        </a:p>
      </dgm:t>
    </dgm:pt>
    <dgm:pt modelId="{FBCA75F5-4A8D-4AB8-83F6-06BA4C54F6F4}" type="pres">
      <dgm:prSet presAssocID="{328EA8A4-B1FE-444E-84F2-712276A1F889}" presName="root" presStyleCnt="0">
        <dgm:presLayoutVars>
          <dgm:dir/>
          <dgm:resizeHandles val="exact"/>
        </dgm:presLayoutVars>
      </dgm:prSet>
      <dgm:spPr/>
    </dgm:pt>
    <dgm:pt modelId="{2BB7C180-06CA-414D-B389-6C8468BB5C4F}" type="pres">
      <dgm:prSet presAssocID="{13D6BFB1-6DED-45F2-B34C-C002D4EC04E3}" presName="compNode" presStyleCnt="0"/>
      <dgm:spPr/>
    </dgm:pt>
    <dgm:pt modelId="{6750538F-F9D1-4B20-B695-D0C716B73BCE}" type="pres">
      <dgm:prSet presAssocID="{13D6BFB1-6DED-45F2-B34C-C002D4EC04E3}" presName="bgRect" presStyleLbl="bgShp" presStyleIdx="0" presStyleCnt="3"/>
      <dgm:spPr/>
    </dgm:pt>
    <dgm:pt modelId="{470F6813-254D-4F9E-B903-B96999189A58}" type="pres">
      <dgm:prSet presAssocID="{13D6BFB1-6DED-45F2-B34C-C002D4EC04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3D48D562-9641-47F0-A96A-4CEB96A8ACAE}" type="pres">
      <dgm:prSet presAssocID="{13D6BFB1-6DED-45F2-B34C-C002D4EC04E3}" presName="spaceRect" presStyleCnt="0"/>
      <dgm:spPr/>
    </dgm:pt>
    <dgm:pt modelId="{AEB4F0B3-6F04-4D01-B3E4-57024FDED9CA}" type="pres">
      <dgm:prSet presAssocID="{13D6BFB1-6DED-45F2-B34C-C002D4EC04E3}" presName="parTx" presStyleLbl="revTx" presStyleIdx="0" presStyleCnt="3">
        <dgm:presLayoutVars>
          <dgm:chMax val="0"/>
          <dgm:chPref val="0"/>
        </dgm:presLayoutVars>
      </dgm:prSet>
      <dgm:spPr/>
    </dgm:pt>
    <dgm:pt modelId="{DEA1C9A7-7569-4DB1-B7FA-A64356EFB3F8}" type="pres">
      <dgm:prSet presAssocID="{501BACFD-0AF0-4AFF-B7DB-189A51FDE0D9}" presName="sibTrans" presStyleCnt="0"/>
      <dgm:spPr/>
    </dgm:pt>
    <dgm:pt modelId="{4376D81E-13FA-43A5-984F-B65E07C17AF6}" type="pres">
      <dgm:prSet presAssocID="{67D61F57-9B8A-4781-BC78-94A771F34517}" presName="compNode" presStyleCnt="0"/>
      <dgm:spPr/>
    </dgm:pt>
    <dgm:pt modelId="{A7855F56-4925-4B82-B8E2-D2F063693AFC}" type="pres">
      <dgm:prSet presAssocID="{67D61F57-9B8A-4781-BC78-94A771F34517}" presName="bgRect" presStyleLbl="bgShp" presStyleIdx="1" presStyleCnt="3"/>
      <dgm:spPr/>
    </dgm:pt>
    <dgm:pt modelId="{35C7678A-93E8-4A52-A9DF-A8400E437CB8}" type="pres">
      <dgm:prSet presAssocID="{67D61F57-9B8A-4781-BC78-94A771F345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deau"/>
        </a:ext>
      </dgm:extLst>
    </dgm:pt>
    <dgm:pt modelId="{0513A9E6-02EA-4C7E-AB73-4A7BF50425F7}" type="pres">
      <dgm:prSet presAssocID="{67D61F57-9B8A-4781-BC78-94A771F34517}" presName="spaceRect" presStyleCnt="0"/>
      <dgm:spPr/>
    </dgm:pt>
    <dgm:pt modelId="{97E0131B-E225-4618-AE89-93A07E71EDB2}" type="pres">
      <dgm:prSet presAssocID="{67D61F57-9B8A-4781-BC78-94A771F34517}" presName="parTx" presStyleLbl="revTx" presStyleIdx="1" presStyleCnt="3">
        <dgm:presLayoutVars>
          <dgm:chMax val="0"/>
          <dgm:chPref val="0"/>
        </dgm:presLayoutVars>
      </dgm:prSet>
      <dgm:spPr/>
    </dgm:pt>
    <dgm:pt modelId="{CD93C505-86BF-4B51-AD8D-B2AD9A972484}" type="pres">
      <dgm:prSet presAssocID="{0C2054EC-2E63-4900-9BE5-8EE22AE24A1E}" presName="sibTrans" presStyleCnt="0"/>
      <dgm:spPr/>
    </dgm:pt>
    <dgm:pt modelId="{292150A8-0A55-49B7-9C3E-EBB82C5BE109}" type="pres">
      <dgm:prSet presAssocID="{855497B2-CB56-4D7F-9088-1DD91369D25B}" presName="compNode" presStyleCnt="0"/>
      <dgm:spPr/>
    </dgm:pt>
    <dgm:pt modelId="{F3D48EBD-96D3-454D-BCB3-DF5BD836B40D}" type="pres">
      <dgm:prSet presAssocID="{855497B2-CB56-4D7F-9088-1DD91369D25B}" presName="bgRect" presStyleLbl="bgShp" presStyleIdx="2" presStyleCnt="3"/>
      <dgm:spPr/>
    </dgm:pt>
    <dgm:pt modelId="{DCF550AA-4AAF-4BAD-975B-47F7AA3D60A3}" type="pres">
      <dgm:prSet presAssocID="{855497B2-CB56-4D7F-9088-1DD91369D2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oting star"/>
        </a:ext>
      </dgm:extLst>
    </dgm:pt>
    <dgm:pt modelId="{A0CFDACF-A53F-43CD-9D23-A0FEF94F920E}" type="pres">
      <dgm:prSet presAssocID="{855497B2-CB56-4D7F-9088-1DD91369D25B}" presName="spaceRect" presStyleCnt="0"/>
      <dgm:spPr/>
    </dgm:pt>
    <dgm:pt modelId="{9C93109A-64C0-424E-8EB9-8C02178E91E5}" type="pres">
      <dgm:prSet presAssocID="{855497B2-CB56-4D7F-9088-1DD91369D25B}" presName="parTx" presStyleLbl="revTx" presStyleIdx="2" presStyleCnt="3">
        <dgm:presLayoutVars>
          <dgm:chMax val="0"/>
          <dgm:chPref val="0"/>
        </dgm:presLayoutVars>
      </dgm:prSet>
      <dgm:spPr/>
    </dgm:pt>
  </dgm:ptLst>
  <dgm:cxnLst>
    <dgm:cxn modelId="{5A18D708-D904-4B5F-AA36-9D272DEB067C}" srcId="{328EA8A4-B1FE-444E-84F2-712276A1F889}" destId="{67D61F57-9B8A-4781-BC78-94A771F34517}" srcOrd="1" destOrd="0" parTransId="{6242CAF1-E139-4589-B18E-E5CC6C3235B2}" sibTransId="{0C2054EC-2E63-4900-9BE5-8EE22AE24A1E}"/>
    <dgm:cxn modelId="{525A9830-9888-44AE-8910-CAEB021FCDCD}" srcId="{328EA8A4-B1FE-444E-84F2-712276A1F889}" destId="{13D6BFB1-6DED-45F2-B34C-C002D4EC04E3}" srcOrd="0" destOrd="0" parTransId="{B0CC5108-4083-44F9-BF42-28D86A4EB33B}" sibTransId="{501BACFD-0AF0-4AFF-B7DB-189A51FDE0D9}"/>
    <dgm:cxn modelId="{8CEC894F-A5C7-4949-B3F2-78563F48C159}" srcId="{328EA8A4-B1FE-444E-84F2-712276A1F889}" destId="{855497B2-CB56-4D7F-9088-1DD91369D25B}" srcOrd="2" destOrd="0" parTransId="{5B20EEC0-388D-416D-AE73-F889359D0026}" sibTransId="{853EF1BB-75FC-4BED-82D3-76CFA3DE5E27}"/>
    <dgm:cxn modelId="{9197E855-23A3-401E-A9E4-4A1FC3431E45}" type="presOf" srcId="{13D6BFB1-6DED-45F2-B34C-C002D4EC04E3}" destId="{AEB4F0B3-6F04-4D01-B3E4-57024FDED9CA}" srcOrd="0" destOrd="0" presId="urn:microsoft.com/office/officeart/2018/2/layout/IconVerticalSolidList"/>
    <dgm:cxn modelId="{57EC5E80-6367-49E9-BCE3-0AA08DC457EE}" type="presOf" srcId="{328EA8A4-B1FE-444E-84F2-712276A1F889}" destId="{FBCA75F5-4A8D-4AB8-83F6-06BA4C54F6F4}" srcOrd="0" destOrd="0" presId="urn:microsoft.com/office/officeart/2018/2/layout/IconVerticalSolidList"/>
    <dgm:cxn modelId="{AF947CCC-6F43-46EE-8DBA-DCAED864C8AB}" type="presOf" srcId="{855497B2-CB56-4D7F-9088-1DD91369D25B}" destId="{9C93109A-64C0-424E-8EB9-8C02178E91E5}" srcOrd="0" destOrd="0" presId="urn:microsoft.com/office/officeart/2018/2/layout/IconVerticalSolidList"/>
    <dgm:cxn modelId="{FFDD9EE0-27E7-4133-9FA9-FCA29000E034}" type="presOf" srcId="{67D61F57-9B8A-4781-BC78-94A771F34517}" destId="{97E0131B-E225-4618-AE89-93A07E71EDB2}" srcOrd="0" destOrd="0" presId="urn:microsoft.com/office/officeart/2018/2/layout/IconVerticalSolidList"/>
    <dgm:cxn modelId="{2FA9AC90-4EA9-47C5-B11E-3335D28B11F3}" type="presParOf" srcId="{FBCA75F5-4A8D-4AB8-83F6-06BA4C54F6F4}" destId="{2BB7C180-06CA-414D-B389-6C8468BB5C4F}" srcOrd="0" destOrd="0" presId="urn:microsoft.com/office/officeart/2018/2/layout/IconVerticalSolidList"/>
    <dgm:cxn modelId="{945185C5-E87F-4284-B380-FF11C9303E1B}" type="presParOf" srcId="{2BB7C180-06CA-414D-B389-6C8468BB5C4F}" destId="{6750538F-F9D1-4B20-B695-D0C716B73BCE}" srcOrd="0" destOrd="0" presId="urn:microsoft.com/office/officeart/2018/2/layout/IconVerticalSolidList"/>
    <dgm:cxn modelId="{FC6774A7-E808-4480-B1B2-BCDB3CA814EE}" type="presParOf" srcId="{2BB7C180-06CA-414D-B389-6C8468BB5C4F}" destId="{470F6813-254D-4F9E-B903-B96999189A58}" srcOrd="1" destOrd="0" presId="urn:microsoft.com/office/officeart/2018/2/layout/IconVerticalSolidList"/>
    <dgm:cxn modelId="{78D3905E-6D33-4752-8262-D206B3DD7C72}" type="presParOf" srcId="{2BB7C180-06CA-414D-B389-6C8468BB5C4F}" destId="{3D48D562-9641-47F0-A96A-4CEB96A8ACAE}" srcOrd="2" destOrd="0" presId="urn:microsoft.com/office/officeart/2018/2/layout/IconVerticalSolidList"/>
    <dgm:cxn modelId="{E2C7B91C-F87B-45C6-AF37-EBD010ED98B2}" type="presParOf" srcId="{2BB7C180-06CA-414D-B389-6C8468BB5C4F}" destId="{AEB4F0B3-6F04-4D01-B3E4-57024FDED9CA}" srcOrd="3" destOrd="0" presId="urn:microsoft.com/office/officeart/2018/2/layout/IconVerticalSolidList"/>
    <dgm:cxn modelId="{E90362F7-5A06-4936-880A-B0F80B42B156}" type="presParOf" srcId="{FBCA75F5-4A8D-4AB8-83F6-06BA4C54F6F4}" destId="{DEA1C9A7-7569-4DB1-B7FA-A64356EFB3F8}" srcOrd="1" destOrd="0" presId="urn:microsoft.com/office/officeart/2018/2/layout/IconVerticalSolidList"/>
    <dgm:cxn modelId="{25CA90BB-50B0-475B-A633-5BDFC35E6C33}" type="presParOf" srcId="{FBCA75F5-4A8D-4AB8-83F6-06BA4C54F6F4}" destId="{4376D81E-13FA-43A5-984F-B65E07C17AF6}" srcOrd="2" destOrd="0" presId="urn:microsoft.com/office/officeart/2018/2/layout/IconVerticalSolidList"/>
    <dgm:cxn modelId="{5A178C59-7AD8-4D8B-870F-E7848B78EDC3}" type="presParOf" srcId="{4376D81E-13FA-43A5-984F-B65E07C17AF6}" destId="{A7855F56-4925-4B82-B8E2-D2F063693AFC}" srcOrd="0" destOrd="0" presId="urn:microsoft.com/office/officeart/2018/2/layout/IconVerticalSolidList"/>
    <dgm:cxn modelId="{072109DE-5572-4248-8B77-E609B8F3117A}" type="presParOf" srcId="{4376D81E-13FA-43A5-984F-B65E07C17AF6}" destId="{35C7678A-93E8-4A52-A9DF-A8400E437CB8}" srcOrd="1" destOrd="0" presId="urn:microsoft.com/office/officeart/2018/2/layout/IconVerticalSolidList"/>
    <dgm:cxn modelId="{AC412431-2E39-4A58-BFE4-166FF1EA4182}" type="presParOf" srcId="{4376D81E-13FA-43A5-984F-B65E07C17AF6}" destId="{0513A9E6-02EA-4C7E-AB73-4A7BF50425F7}" srcOrd="2" destOrd="0" presId="urn:microsoft.com/office/officeart/2018/2/layout/IconVerticalSolidList"/>
    <dgm:cxn modelId="{4CCCB35A-6892-40FE-A96A-B2F7A9A94620}" type="presParOf" srcId="{4376D81E-13FA-43A5-984F-B65E07C17AF6}" destId="{97E0131B-E225-4618-AE89-93A07E71EDB2}" srcOrd="3" destOrd="0" presId="urn:microsoft.com/office/officeart/2018/2/layout/IconVerticalSolidList"/>
    <dgm:cxn modelId="{F3E7D19E-BB02-4D1E-A025-D4F7C15A8573}" type="presParOf" srcId="{FBCA75F5-4A8D-4AB8-83F6-06BA4C54F6F4}" destId="{CD93C505-86BF-4B51-AD8D-B2AD9A972484}" srcOrd="3" destOrd="0" presId="urn:microsoft.com/office/officeart/2018/2/layout/IconVerticalSolidList"/>
    <dgm:cxn modelId="{758A7324-A9D4-4CE9-8814-AA2521EF3144}" type="presParOf" srcId="{FBCA75F5-4A8D-4AB8-83F6-06BA4C54F6F4}" destId="{292150A8-0A55-49B7-9C3E-EBB82C5BE109}" srcOrd="4" destOrd="0" presId="urn:microsoft.com/office/officeart/2018/2/layout/IconVerticalSolidList"/>
    <dgm:cxn modelId="{1385BE87-37A0-4A28-BE4C-3EF5DEBD4EAD}" type="presParOf" srcId="{292150A8-0A55-49B7-9C3E-EBB82C5BE109}" destId="{F3D48EBD-96D3-454D-BCB3-DF5BD836B40D}" srcOrd="0" destOrd="0" presId="urn:microsoft.com/office/officeart/2018/2/layout/IconVerticalSolidList"/>
    <dgm:cxn modelId="{CF01D6F7-3222-4F5B-A676-08B177E7FDE2}" type="presParOf" srcId="{292150A8-0A55-49B7-9C3E-EBB82C5BE109}" destId="{DCF550AA-4AAF-4BAD-975B-47F7AA3D60A3}" srcOrd="1" destOrd="0" presId="urn:microsoft.com/office/officeart/2018/2/layout/IconVerticalSolidList"/>
    <dgm:cxn modelId="{F426652A-93DA-4944-A921-D1ADFD3F5BD3}" type="presParOf" srcId="{292150A8-0A55-49B7-9C3E-EBB82C5BE109}" destId="{A0CFDACF-A53F-43CD-9D23-A0FEF94F920E}" srcOrd="2" destOrd="0" presId="urn:microsoft.com/office/officeart/2018/2/layout/IconVerticalSolidList"/>
    <dgm:cxn modelId="{3CDDA10B-4D23-46DE-9993-74B788E380D4}" type="presParOf" srcId="{292150A8-0A55-49B7-9C3E-EBB82C5BE109}" destId="{9C93109A-64C0-424E-8EB9-8C02178E91E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2971E-8C51-4B44-92F9-C5DD27611952}">
      <dsp:nvSpPr>
        <dsp:cNvPr id="0" name=""/>
        <dsp:cNvSpPr/>
      </dsp:nvSpPr>
      <dsp:spPr>
        <a:xfrm>
          <a:off x="0" y="0"/>
          <a:ext cx="1111088" cy="1111088"/>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39658" r="345" b="5"/>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9DE79A-9276-4A10-9DCC-6BB453A0582C}">
      <dsp:nvSpPr>
        <dsp:cNvPr id="0" name=""/>
        <dsp:cNvSpPr/>
      </dsp:nvSpPr>
      <dsp:spPr>
        <a:xfrm>
          <a:off x="1291088" y="0"/>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Qu'est-ce qu'un prompt ?</a:t>
          </a:r>
        </a:p>
      </dsp:txBody>
      <dsp:txXfrm>
        <a:off x="1291088" y="0"/>
        <a:ext cx="6595611" cy="348027"/>
      </dsp:txXfrm>
    </dsp:sp>
    <dsp:sp modelId="{6537B536-5FB8-4047-83F2-B0AD12F264F8}">
      <dsp:nvSpPr>
        <dsp:cNvPr id="0" name=""/>
        <dsp:cNvSpPr/>
      </dsp:nvSpPr>
      <dsp:spPr>
        <a:xfrm>
          <a:off x="1291088" y="348027"/>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Un prompt est une instruction ou une question donnée à une IA générative pour initier la génération de contenu.</a:t>
          </a:r>
        </a:p>
      </dsp:txBody>
      <dsp:txXfrm>
        <a:off x="1291088" y="348027"/>
        <a:ext cx="6595611" cy="763060"/>
      </dsp:txXfrm>
    </dsp:sp>
    <dsp:sp modelId="{EA072420-4E29-4C46-9319-69959CE8C6C5}">
      <dsp:nvSpPr>
        <dsp:cNvPr id="0" name=""/>
        <dsp:cNvSpPr/>
      </dsp:nvSpPr>
      <dsp:spPr>
        <a:xfrm>
          <a:off x="0" y="1199975"/>
          <a:ext cx="1111088" cy="1111088"/>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5394" r="32108" b="3"/>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E72D00D-36B3-4BC5-BEDD-F0FC38A5B666}">
      <dsp:nvSpPr>
        <dsp:cNvPr id="0" name=""/>
        <dsp:cNvSpPr/>
      </dsp:nvSpPr>
      <dsp:spPr>
        <a:xfrm>
          <a:off x="1291088" y="1199975"/>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Importance du prompt</a:t>
          </a:r>
        </a:p>
      </dsp:txBody>
      <dsp:txXfrm>
        <a:off x="1291088" y="1199975"/>
        <a:ext cx="6595611" cy="348027"/>
      </dsp:txXfrm>
    </dsp:sp>
    <dsp:sp modelId="{A5FA9821-3743-4E94-B2BE-3111A5E1B25D}">
      <dsp:nvSpPr>
        <dsp:cNvPr id="0" name=""/>
        <dsp:cNvSpPr/>
      </dsp:nvSpPr>
      <dsp:spPr>
        <a:xfrm>
          <a:off x="1291088" y="1548003"/>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 prompt est essentiel car il détermine la qualité et la pertinence des résultats générés par l’IA.</a:t>
          </a:r>
        </a:p>
        <a:p>
          <a:pPr marL="0" lvl="0" indent="0" algn="l" defTabSz="622300">
            <a:lnSpc>
              <a:spcPct val="100000"/>
            </a:lnSpc>
            <a:spcBef>
              <a:spcPct val="0"/>
            </a:spcBef>
            <a:spcAft>
              <a:spcPct val="35000"/>
            </a:spcAft>
            <a:buNone/>
          </a:pPr>
          <a:r>
            <a:rPr lang="fr-FR" sz="1400" b="1" kern="1200"/>
            <a:t>Le dialogue prompting </a:t>
          </a:r>
          <a:r>
            <a:rPr lang="fr-FR" sz="1400" kern="1200"/>
            <a:t>fonctionne aussi.</a:t>
          </a:r>
        </a:p>
      </dsp:txBody>
      <dsp:txXfrm>
        <a:off x="1291088" y="1548003"/>
        <a:ext cx="6595611" cy="763060"/>
      </dsp:txXfrm>
    </dsp:sp>
    <dsp:sp modelId="{99907383-E18F-4CEA-A363-5F8A31C1062D}">
      <dsp:nvSpPr>
        <dsp:cNvPr id="0" name=""/>
        <dsp:cNvSpPr/>
      </dsp:nvSpPr>
      <dsp:spPr>
        <a:xfrm>
          <a:off x="0" y="2399951"/>
          <a:ext cx="1111088" cy="111108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r="28001" b="1"/>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12E9FD3-76AE-4A57-8202-2F7221C32B81}">
      <dsp:nvSpPr>
        <dsp:cNvPr id="0" name=""/>
        <dsp:cNvSpPr/>
      </dsp:nvSpPr>
      <dsp:spPr>
        <a:xfrm>
          <a:off x="1291088" y="2399951"/>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Règles pour un bon prompt</a:t>
          </a:r>
        </a:p>
      </dsp:txBody>
      <dsp:txXfrm>
        <a:off x="1291088" y="2399951"/>
        <a:ext cx="6595611" cy="348027"/>
      </dsp:txXfrm>
    </dsp:sp>
    <dsp:sp modelId="{F56C6BF1-EB8F-4A7F-956A-092ABD3210E5}">
      <dsp:nvSpPr>
        <dsp:cNvPr id="0" name=""/>
        <dsp:cNvSpPr/>
      </dsp:nvSpPr>
      <dsp:spPr>
        <a:xfrm>
          <a:off x="1291088" y="2747979"/>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Un bon prompt doit être clair, spécifique et orienté vers l'objectif pour obtenir des réponses précises de l'IA.</a:t>
          </a:r>
        </a:p>
      </dsp:txBody>
      <dsp:txXfrm>
        <a:off x="1291088" y="2747979"/>
        <a:ext cx="6595611" cy="763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0538F-F9D1-4B20-B695-D0C716B73BCE}">
      <dsp:nvSpPr>
        <dsp:cNvPr id="0" name=""/>
        <dsp:cNvSpPr/>
      </dsp:nvSpPr>
      <dsp:spPr>
        <a:xfrm>
          <a:off x="0" y="428"/>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F6813-254D-4F9E-B903-B96999189A58}">
      <dsp:nvSpPr>
        <dsp:cNvPr id="0" name=""/>
        <dsp:cNvSpPr/>
      </dsp:nvSpPr>
      <dsp:spPr>
        <a:xfrm>
          <a:off x="303427" y="226118"/>
          <a:ext cx="551686" cy="5516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B4F0B3-6F04-4D01-B3E4-57024FDED9CA}">
      <dsp:nvSpPr>
        <dsp:cNvPr id="0" name=""/>
        <dsp:cNvSpPr/>
      </dsp:nvSpPr>
      <dsp:spPr>
        <a:xfrm>
          <a:off x="1158541" y="428"/>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Faire sa biographie</a:t>
          </a:r>
          <a:endParaRPr lang="en-US" sz="2500" kern="1200"/>
        </a:p>
      </dsp:txBody>
      <dsp:txXfrm>
        <a:off x="1158541" y="428"/>
        <a:ext cx="6728158" cy="1003066"/>
      </dsp:txXfrm>
    </dsp:sp>
    <dsp:sp modelId="{A7855F56-4925-4B82-B8E2-D2F063693AFC}">
      <dsp:nvSpPr>
        <dsp:cNvPr id="0" name=""/>
        <dsp:cNvSpPr/>
      </dsp:nvSpPr>
      <dsp:spPr>
        <a:xfrm>
          <a:off x="0" y="1254261"/>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C7678A-93E8-4A52-A9DF-A8400E437CB8}">
      <dsp:nvSpPr>
        <dsp:cNvPr id="0" name=""/>
        <dsp:cNvSpPr/>
      </dsp:nvSpPr>
      <dsp:spPr>
        <a:xfrm>
          <a:off x="303427" y="1479951"/>
          <a:ext cx="551686" cy="5516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E0131B-E225-4618-AE89-93A07E71EDB2}">
      <dsp:nvSpPr>
        <dsp:cNvPr id="0" name=""/>
        <dsp:cNvSpPr/>
      </dsp:nvSpPr>
      <dsp:spPr>
        <a:xfrm>
          <a:off x="1158541" y="1254261"/>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Donne 3 idées originales de cadeau pour… (à vous de choisir)</a:t>
          </a:r>
          <a:endParaRPr lang="en-US" sz="2500" kern="1200"/>
        </a:p>
      </dsp:txBody>
      <dsp:txXfrm>
        <a:off x="1158541" y="1254261"/>
        <a:ext cx="6728158" cy="1003066"/>
      </dsp:txXfrm>
    </dsp:sp>
    <dsp:sp modelId="{F3D48EBD-96D3-454D-BCB3-DF5BD836B40D}">
      <dsp:nvSpPr>
        <dsp:cNvPr id="0" name=""/>
        <dsp:cNvSpPr/>
      </dsp:nvSpPr>
      <dsp:spPr>
        <a:xfrm>
          <a:off x="0" y="2508094"/>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F550AA-4AAF-4BAD-975B-47F7AA3D60A3}">
      <dsp:nvSpPr>
        <dsp:cNvPr id="0" name=""/>
        <dsp:cNvSpPr/>
      </dsp:nvSpPr>
      <dsp:spPr>
        <a:xfrm>
          <a:off x="303427" y="2733784"/>
          <a:ext cx="551686" cy="5516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93109A-64C0-424E-8EB9-8C02178E91E5}">
      <dsp:nvSpPr>
        <dsp:cNvPr id="0" name=""/>
        <dsp:cNvSpPr/>
      </dsp:nvSpPr>
      <dsp:spPr>
        <a:xfrm>
          <a:off x="1158541" y="2508094"/>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Rédige une lettre de motivation pour devenir super héros </a:t>
          </a:r>
          <a:endParaRPr lang="en-US" sz="2500" kern="1200"/>
        </a:p>
      </dsp:txBody>
      <dsp:txXfrm>
        <a:off x="1158541" y="2508094"/>
        <a:ext cx="6728158" cy="100306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LE PROMPT
Qui connait ce mot ?
📌 Définition :
Un prompt, c’est l’instruction ou la question que vous donnez à une IA générative (comme ChatGPT, Copilot, Gemini…).
C’est le point de départ de la génération de texte, d’image, de code ou d’analyse.
A votre avis, quelles sont les règles pour faire un bon prompt ?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2</a:t>
            </a:fld>
            <a:endParaRPr lang="fr-FR"/>
          </a:p>
        </p:txBody>
      </p:sp>
    </p:spTree>
    <p:extLst>
      <p:ext uri="{BB962C8B-B14F-4D97-AF65-F5344CB8AC3E}">
        <p14:creationId xmlns:p14="http://schemas.microsoft.com/office/powerpoint/2010/main" val="145385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Un bon prompt, c’est…
✅ Clair → sans ambiguïté
✅ Contextualisé → je donne les infos utiles pour bien   comprendre ma demande
✅ Orienté vers un objectif → je dis ce que je veux obtenir
✅ Spécifique → j’indique un format ou un niveau de détail   attendu
✍️ 5 conseils clés pour bien formuler vos prompts</a:t>
            </a:r>
          </a:p>
        </p:txBody>
      </p:sp>
      <p:sp>
        <p:nvSpPr>
          <p:cNvPr id="4" name="Espace réservé du numéro de diapositive 3"/>
          <p:cNvSpPr>
            <a:spLocks noGrp="1"/>
          </p:cNvSpPr>
          <p:nvPr>
            <p:ph type="sldNum" sz="quarter" idx="5"/>
          </p:nvPr>
        </p:nvSpPr>
        <p:spPr/>
        <p:txBody>
          <a:bodyPr/>
          <a:lstStyle/>
          <a:p>
            <a:fld id="{3F0C775E-6503-4048-81A4-7EB6D651962E}" type="slidenum">
              <a:t>3</a:t>
            </a:fld>
            <a:endParaRPr lang="fr-FR"/>
          </a:p>
        </p:txBody>
      </p:sp>
    </p:spTree>
    <p:extLst>
      <p:ext uri="{BB962C8B-B14F-4D97-AF65-F5344CB8AC3E}">
        <p14:creationId xmlns:p14="http://schemas.microsoft.com/office/powerpoint/2010/main" val="1992585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Objectifs du défi, Consignes et exemples de prompts</a:t>
            </a:r>
          </a:p>
        </p:txBody>
      </p:sp>
      <p:sp>
        <p:nvSpPr>
          <p:cNvPr id="4" name="Espace réservé du numéro de diapositive 3"/>
          <p:cNvSpPr>
            <a:spLocks noGrp="1"/>
          </p:cNvSpPr>
          <p:nvPr>
            <p:ph type="sldNum" sz="quarter" idx="5"/>
          </p:nvPr>
        </p:nvSpPr>
        <p:spPr/>
        <p:txBody>
          <a:bodyPr/>
          <a:lstStyle/>
          <a:p>
            <a:fld id="{3F0C775E-6503-4048-81A4-7EB6D651962E}" type="slidenum">
              <a:t>15</a:t>
            </a:fld>
            <a:endParaRPr lang="fr-FR"/>
          </a:p>
        </p:txBody>
      </p:sp>
    </p:spTree>
    <p:extLst>
      <p:ext uri="{BB962C8B-B14F-4D97-AF65-F5344CB8AC3E}">
        <p14:creationId xmlns:p14="http://schemas.microsoft.com/office/powerpoint/2010/main" val="1508819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Objectifs :
Observer les différences de ton, structure, pertinence
Initier la réflexion : quelle IA pour quel usage ?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16</a:t>
            </a:fld>
            <a:endParaRPr lang="fr-FR"/>
          </a:p>
        </p:txBody>
      </p:sp>
    </p:spTree>
    <p:extLst>
      <p:ext uri="{BB962C8B-B14F-4D97-AF65-F5344CB8AC3E}">
        <p14:creationId xmlns:p14="http://schemas.microsoft.com/office/powerpoint/2010/main" val="39772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Objectifs du débat, Discussion guidée</a:t>
            </a:r>
          </a:p>
        </p:txBody>
      </p:sp>
      <p:sp>
        <p:nvSpPr>
          <p:cNvPr id="4" name="Espace réservé du numéro de diapositive 3"/>
          <p:cNvSpPr>
            <a:spLocks noGrp="1"/>
          </p:cNvSpPr>
          <p:nvPr>
            <p:ph type="sldNum" sz="quarter" idx="5"/>
          </p:nvPr>
        </p:nvSpPr>
        <p:spPr/>
        <p:txBody>
          <a:bodyPr/>
          <a:lstStyle/>
          <a:p>
            <a:fld id="{3F0C775E-6503-4048-81A4-7EB6D651962E}" type="slidenum">
              <a:t>21</a:t>
            </a:fld>
            <a:endParaRPr lang="fr-FR"/>
          </a:p>
        </p:txBody>
      </p:sp>
    </p:spTree>
    <p:extLst>
      <p:ext uri="{BB962C8B-B14F-4D97-AF65-F5344CB8AC3E}">
        <p14:creationId xmlns:p14="http://schemas.microsoft.com/office/powerpoint/2010/main" val="3735700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Discussion guidée :
Qui a préféré quelle IA      ? Pourquoi ?
Certaines IA vous      paraissent-elles plus fiables, plus “sympas” ou plus efficaces ?
Peut-on dire qu’une IA a      un style ?
En synthèse présentation du tableau suivant :
🧠 Comparatif des Chatbots – Points forts &amp; limites observables en Prompt Battle</a:t>
            </a:r>
          </a:p>
        </p:txBody>
      </p:sp>
      <p:sp>
        <p:nvSpPr>
          <p:cNvPr id="4" name="Espace réservé du numéro de diapositive 3"/>
          <p:cNvSpPr>
            <a:spLocks noGrp="1"/>
          </p:cNvSpPr>
          <p:nvPr>
            <p:ph type="sldNum" sz="quarter" idx="5"/>
          </p:nvPr>
        </p:nvSpPr>
        <p:spPr/>
        <p:txBody>
          <a:bodyPr/>
          <a:lstStyle/>
          <a:p>
            <a:fld id="{3F0C775E-6503-4048-81A4-7EB6D651962E}" type="slidenum">
              <a:t>22</a:t>
            </a:fld>
            <a:endParaRPr lang="fr-FR"/>
          </a:p>
        </p:txBody>
      </p:sp>
    </p:spTree>
    <p:extLst>
      <p:ext uri="{BB962C8B-B14F-4D97-AF65-F5344CB8AC3E}">
        <p14:creationId xmlns:p14="http://schemas.microsoft.com/office/powerpoint/2010/main" val="1942075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Synthèse :
Il n’y a pas une IA meilleure, mais des IA différentes
Le bon outil dépend du contexte, de l’usage, et de votre      objectif
Tester plusieurs IA est un bon réflexe pour rester lucide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23</a:t>
            </a:fld>
            <a:endParaRPr lang="fr-FR"/>
          </a:p>
        </p:txBody>
      </p:sp>
    </p:spTree>
    <p:extLst>
      <p:ext uri="{BB962C8B-B14F-4D97-AF65-F5344CB8AC3E}">
        <p14:creationId xmlns:p14="http://schemas.microsoft.com/office/powerpoint/2010/main" val="211207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de section Bleu Clai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623888" y="1709739"/>
            <a:ext cx="7886700" cy="2852737"/>
          </a:xfrm>
          <a:solidFill>
            <a:schemeClr val="accent3"/>
          </a:solidFill>
        </p:spPr>
        <p:txBody>
          <a:bodyPr anchor="ctr"/>
          <a:lstStyle>
            <a:lvl1pPr algn="ctr">
              <a:defRPr sz="4500">
                <a:solidFill>
                  <a:schemeClr val="accent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381663" y="286248"/>
            <a:ext cx="242225"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du texte 8">
            <a:extLst>
              <a:ext uri="{FF2B5EF4-FFF2-40B4-BE49-F238E27FC236}">
                <a16:creationId xmlns:a16="http://schemas.microsoft.com/office/drawing/2014/main" id="{99C43EA1-30EF-B705-73DC-75804CAE7E79}"/>
              </a:ext>
            </a:extLst>
          </p:cNvPr>
          <p:cNvSpPr>
            <a:spLocks noGrp="1"/>
          </p:cNvSpPr>
          <p:nvPr>
            <p:ph type="body" sz="quarter" idx="13"/>
          </p:nvPr>
        </p:nvSpPr>
        <p:spPr>
          <a:xfrm>
            <a:off x="623888" y="1276350"/>
            <a:ext cx="1970485" cy="433388"/>
          </a:xfrm>
          <a:solidFill>
            <a:schemeClr val="tx2"/>
          </a:solidFill>
        </p:spPr>
        <p:txBody>
          <a:bodyPr anchor="ctr"/>
          <a:lstStyle>
            <a:lvl1pPr marL="0" indent="0" algn="ctr">
              <a:buNone/>
              <a:defRPr>
                <a:solidFill>
                  <a:schemeClr val="bg1"/>
                </a:solidFill>
              </a:defRPr>
            </a:lvl1pPr>
            <a:lvl2pPr marL="342900" indent="0" algn="ctr">
              <a:buNone/>
              <a:defRPr>
                <a:solidFill>
                  <a:schemeClr val="bg1"/>
                </a:solidFill>
              </a:defRPr>
            </a:lvl2pPr>
            <a:lvl3pPr marL="685800" indent="0" algn="ctr">
              <a:buNone/>
              <a:defRPr>
                <a:solidFill>
                  <a:schemeClr val="bg1"/>
                </a:solidFill>
              </a:defRPr>
            </a:lvl3pPr>
            <a:lvl4pPr marL="1028700" indent="0" algn="ctr">
              <a:buNone/>
              <a:defRPr>
                <a:solidFill>
                  <a:schemeClr val="bg1"/>
                </a:solidFill>
              </a:defRPr>
            </a:lvl4pPr>
            <a:lvl5pPr marL="13716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498734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re de section Ro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623888" y="1709739"/>
            <a:ext cx="7886700" cy="2852737"/>
          </a:xfrm>
          <a:solidFill>
            <a:schemeClr val="accent2"/>
          </a:solidFill>
        </p:spPr>
        <p:txBody>
          <a:bodyPr anchor="ctr"/>
          <a:lstStyle>
            <a:lvl1pPr algn="ctr">
              <a:defRPr sz="45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381663" y="286248"/>
            <a:ext cx="242225"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du texte 8">
            <a:extLst>
              <a:ext uri="{FF2B5EF4-FFF2-40B4-BE49-F238E27FC236}">
                <a16:creationId xmlns:a16="http://schemas.microsoft.com/office/drawing/2014/main" id="{E6450C9A-C453-BE2D-7F6E-766AA3D0269C}"/>
              </a:ext>
            </a:extLst>
          </p:cNvPr>
          <p:cNvSpPr>
            <a:spLocks noGrp="1"/>
          </p:cNvSpPr>
          <p:nvPr>
            <p:ph type="body" sz="quarter" idx="13"/>
          </p:nvPr>
        </p:nvSpPr>
        <p:spPr>
          <a:xfrm>
            <a:off x="623888" y="1276350"/>
            <a:ext cx="1970485" cy="433388"/>
          </a:xfrm>
          <a:solidFill>
            <a:schemeClr val="tx2"/>
          </a:solidFill>
        </p:spPr>
        <p:txBody>
          <a:bodyPr anchor="ctr"/>
          <a:lstStyle>
            <a:lvl1pPr marL="0" indent="0" algn="ctr">
              <a:buNone/>
              <a:defRPr>
                <a:solidFill>
                  <a:schemeClr val="bg1"/>
                </a:solidFill>
              </a:defRPr>
            </a:lvl1pPr>
            <a:lvl2pPr marL="342900" indent="0" algn="ctr">
              <a:buNone/>
              <a:defRPr>
                <a:solidFill>
                  <a:schemeClr val="bg1"/>
                </a:solidFill>
              </a:defRPr>
            </a:lvl2pPr>
            <a:lvl3pPr marL="685800" indent="0" algn="ctr">
              <a:buNone/>
              <a:defRPr>
                <a:solidFill>
                  <a:schemeClr val="bg1"/>
                </a:solidFill>
              </a:defRPr>
            </a:lvl3pPr>
            <a:lvl4pPr marL="1028700" indent="0" algn="ctr">
              <a:buNone/>
              <a:defRPr>
                <a:solidFill>
                  <a:schemeClr val="bg1"/>
                </a:solidFill>
              </a:defRPr>
            </a:lvl4pPr>
            <a:lvl5pPr marL="13716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3643338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Prompt</a:t>
            </a:r>
          </a:p>
        </p:txBody>
      </p:sp>
      <p:sp>
        <p:nvSpPr>
          <p:cNvPr id="3" name="ZoneTexte 2"/>
          <p:cNvSpPr txBox="1"/>
          <p:nvPr/>
        </p:nvSpPr>
        <p:spPr>
          <a:xfrm>
            <a:off x="2771800" y="544153"/>
            <a:ext cx="4211409" cy="646331"/>
          </a:xfrm>
          <a:prstGeom prst="rect">
            <a:avLst/>
          </a:prstGeom>
          <a:noFill/>
        </p:spPr>
        <p:txBody>
          <a:bodyPr wrap="none" rtlCol="0">
            <a:spAutoFit/>
          </a:bodyPr>
          <a:lstStyle/>
          <a:p>
            <a:r>
              <a:rPr lang="fr-FR" sz="3600" dirty="0"/>
              <a:t>Prompt engineering</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18E05A-8F43-E199-B2F9-8A783E1437D6}"/>
              </a:ext>
            </a:extLst>
          </p:cNvPr>
          <p:cNvSpPr>
            <a:spLocks noGrp="1"/>
          </p:cNvSpPr>
          <p:nvPr>
            <p:ph type="title"/>
          </p:nvPr>
        </p:nvSpPr>
        <p:spPr>
          <a:xfrm>
            <a:off x="628650" y="922375"/>
            <a:ext cx="7886700" cy="994172"/>
          </a:xfrm>
        </p:spPr>
        <p:txBody>
          <a:bodyPr anchor="ctr">
            <a:normAutofit/>
          </a:bodyPr>
          <a:lstStyle/>
          <a:p>
            <a:r>
              <a:rPr lang="fr-FR"/>
              <a:t>Définition et importance du prompt</a:t>
            </a:r>
          </a:p>
        </p:txBody>
      </p:sp>
      <p:graphicFrame>
        <p:nvGraphicFramePr>
          <p:cNvPr id="4" name="Espace réservé du contenu 3">
            <a:extLst>
              <a:ext uri="{FF2B5EF4-FFF2-40B4-BE49-F238E27FC236}">
                <a16:creationId xmlns:a16="http://schemas.microsoft.com/office/drawing/2014/main" id="{120777C5-4248-4C6E-8436-45E80463EEBB}"/>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28650" y="1978384"/>
          <a:ext cx="7886700" cy="3511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48701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5F6D84-DE31-3D1F-D550-FBA6B38929B7}"/>
              </a:ext>
            </a:extLst>
          </p:cNvPr>
          <p:cNvSpPr>
            <a:spLocks noGrp="1"/>
          </p:cNvSpPr>
          <p:nvPr>
            <p:ph type="title"/>
          </p:nvPr>
        </p:nvSpPr>
        <p:spPr>
          <a:xfrm>
            <a:off x="628650" y="922376"/>
            <a:ext cx="7886700" cy="827709"/>
          </a:xfrm>
        </p:spPr>
        <p:txBody>
          <a:bodyPr anchor="ctr">
            <a:normAutofit/>
          </a:bodyPr>
          <a:lstStyle/>
          <a:p>
            <a:r>
              <a:rPr lang="fr-FR"/>
              <a:t>Conseils pour bien formuler un prompt</a:t>
            </a:r>
          </a:p>
        </p:txBody>
      </p:sp>
      <p:graphicFrame>
        <p:nvGraphicFramePr>
          <p:cNvPr id="5" name="Espace réservé du contenu 4">
            <a:extLst>
              <a:ext uri="{FF2B5EF4-FFF2-40B4-BE49-F238E27FC236}">
                <a16:creationId xmlns:a16="http://schemas.microsoft.com/office/drawing/2014/main" id="{FBBA179B-0FBA-444E-9746-2A1A4A86B41C}"/>
              </a:ext>
            </a:extLst>
          </p:cNvPr>
          <p:cNvGraphicFramePr>
            <a:graphicFrameLocks noGrp="1"/>
          </p:cNvGraphicFramePr>
          <p:nvPr>
            <p:ph idx="1"/>
          </p:nvPr>
        </p:nvGraphicFramePr>
        <p:xfrm>
          <a:off x="553288" y="1750084"/>
          <a:ext cx="6560946" cy="3883406"/>
        </p:xfrm>
        <a:graphic>
          <a:graphicData uri="http://schemas.openxmlformats.org/drawingml/2006/table">
            <a:tbl>
              <a:tblPr firstRow="1" firstCol="1" bandRow="1">
                <a:noFill/>
                <a:tableStyleId>{5C22544A-7EE6-4342-B048-85BDC9FD1C3A}</a:tableStyleId>
              </a:tblPr>
              <a:tblGrid>
                <a:gridCol w="2571955">
                  <a:extLst>
                    <a:ext uri="{9D8B030D-6E8A-4147-A177-3AD203B41FA5}">
                      <a16:colId xmlns:a16="http://schemas.microsoft.com/office/drawing/2014/main" val="3047533419"/>
                    </a:ext>
                  </a:extLst>
                </a:gridCol>
                <a:gridCol w="3988991">
                  <a:extLst>
                    <a:ext uri="{9D8B030D-6E8A-4147-A177-3AD203B41FA5}">
                      <a16:colId xmlns:a16="http://schemas.microsoft.com/office/drawing/2014/main" val="215421487"/>
                    </a:ext>
                  </a:extLst>
                </a:gridCol>
              </a:tblGrid>
              <a:tr h="520316">
                <a:tc>
                  <a:txBody>
                    <a:bodyPr/>
                    <a:lstStyle/>
                    <a:p>
                      <a:pPr>
                        <a:buNone/>
                      </a:pPr>
                      <a:r>
                        <a:rPr lang="fr-FR" sz="1600" b="1" kern="0" cap="all" spc="150">
                          <a:solidFill>
                            <a:srgbClr val="A7A7A7"/>
                          </a:solidFill>
                          <a:effectLst/>
                        </a:rPr>
                        <a:t>🟦 Conseil</a:t>
                      </a:r>
                      <a:endParaRPr lang="fr-FR" sz="1600" b="1" cap="all" spc="150">
                        <a:solidFill>
                          <a:srgbClr val="A7A7A7"/>
                        </a:solidFill>
                        <a:effectLst/>
                      </a:endParaRPr>
                    </a:p>
                  </a:txBody>
                  <a:tcPr marL="138189" marR="138189" marT="138189" marB="13818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fr-FR" sz="1600" b="1" kern="0" cap="all" spc="150">
                          <a:solidFill>
                            <a:srgbClr val="A7A7A7"/>
                          </a:solidFill>
                          <a:effectLst/>
                        </a:rPr>
                        <a:t>💡 Astuce pratique</a:t>
                      </a:r>
                      <a:endParaRPr lang="fr-FR" sz="1600" b="1" cap="all" spc="150">
                        <a:solidFill>
                          <a:srgbClr val="A7A7A7"/>
                        </a:solidFill>
                        <a:effectLst/>
                      </a:endParaRPr>
                    </a:p>
                  </a:txBody>
                  <a:tcPr marL="138189" marR="138189" marT="138189" marB="138189"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2440563984"/>
                  </a:ext>
                </a:extLst>
              </a:tr>
              <a:tr h="664998">
                <a:tc>
                  <a:txBody>
                    <a:bodyPr/>
                    <a:lstStyle/>
                    <a:p>
                      <a:pPr>
                        <a:buNone/>
                      </a:pPr>
                      <a:r>
                        <a:rPr lang="fr-FR" sz="1300" b="1" kern="0" cap="none" spc="0">
                          <a:solidFill>
                            <a:schemeClr val="tx1"/>
                          </a:solidFill>
                          <a:effectLst/>
                        </a:rPr>
                        <a:t>1. Donnez un rôle à l’IA</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"Tu es un juriste / un coach / un recruteur / un marketeur…"</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166034724"/>
                  </a:ext>
                </a:extLst>
              </a:tr>
              <a:tr h="664998">
                <a:tc>
                  <a:txBody>
                    <a:bodyPr/>
                    <a:lstStyle/>
                    <a:p>
                      <a:pPr>
                        <a:buNone/>
                      </a:pPr>
                      <a:r>
                        <a:rPr lang="fr-FR" sz="1300" b="1" kern="0" cap="none" spc="0">
                          <a:solidFill>
                            <a:schemeClr val="tx1"/>
                          </a:solidFill>
                          <a:effectLst/>
                        </a:rPr>
                        <a:t>2. Décrivez le contexte</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"Je parle à un client fidèle / Je prépare une réunion…"</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09679077"/>
                  </a:ext>
                </a:extLst>
              </a:tr>
              <a:tr h="664998">
                <a:tc>
                  <a:txBody>
                    <a:bodyPr/>
                    <a:lstStyle/>
                    <a:p>
                      <a:pPr>
                        <a:buNone/>
                      </a:pPr>
                      <a:r>
                        <a:rPr lang="fr-FR" sz="1300" b="1" kern="0" cap="none" spc="0">
                          <a:solidFill>
                            <a:schemeClr val="tx1"/>
                          </a:solidFill>
                          <a:effectLst/>
                        </a:rPr>
                        <a:t>3. Soyez explicite sur ce que vous attendez</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"Fais une synthèse / Donne-moi 3 arguments / Rédige un mail..."</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68803976"/>
                  </a:ext>
                </a:extLst>
              </a:tr>
              <a:tr h="664998">
                <a:tc>
                  <a:txBody>
                    <a:bodyPr/>
                    <a:lstStyle/>
                    <a:p>
                      <a:pPr>
                        <a:buNone/>
                      </a:pPr>
                      <a:r>
                        <a:rPr lang="fr-FR" sz="1300" b="1" kern="0" cap="none" spc="0">
                          <a:solidFill>
                            <a:schemeClr val="tx1"/>
                          </a:solidFill>
                          <a:effectLst/>
                        </a:rPr>
                        <a:t>4. Précisez le ton ou le style</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"Professionnel, enthousiaste, concis, formel, accessible…"</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97731926"/>
                  </a:ext>
                </a:extLst>
              </a:tr>
              <a:tr h="664998">
                <a:tc>
                  <a:txBody>
                    <a:bodyPr/>
                    <a:lstStyle/>
                    <a:p>
                      <a:pPr>
                        <a:buNone/>
                      </a:pPr>
                      <a:r>
                        <a:rPr lang="fr-FR" sz="1300" b="1" kern="0" cap="none" spc="0">
                          <a:solidFill>
                            <a:schemeClr val="tx1"/>
                          </a:solidFill>
                          <a:effectLst/>
                        </a:rPr>
                        <a:t>5. Donnez un format si besoin</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fr-FR" sz="1300" kern="0" cap="none" spc="0">
                          <a:solidFill>
                            <a:schemeClr val="tx1"/>
                          </a:solidFill>
                          <a:effectLst/>
                        </a:rPr>
                        <a:t>"En tableau / en bullet points / moins de 150 mots…"</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83543426"/>
                  </a:ext>
                </a:extLst>
              </a:tr>
            </a:tbl>
          </a:graphicData>
        </a:graphic>
      </p:graphicFrame>
      <p:sp>
        <p:nvSpPr>
          <p:cNvPr id="3" name="Bulle narrative : ronde 2">
            <a:extLst>
              <a:ext uri="{FF2B5EF4-FFF2-40B4-BE49-F238E27FC236}">
                <a16:creationId xmlns:a16="http://schemas.microsoft.com/office/drawing/2014/main" id="{F3FEDCD0-7615-B736-C8DF-03E94D9FD3FB}"/>
              </a:ext>
            </a:extLst>
          </p:cNvPr>
          <p:cNvSpPr/>
          <p:nvPr/>
        </p:nvSpPr>
        <p:spPr>
          <a:xfrm>
            <a:off x="7247824" y="1646568"/>
            <a:ext cx="1846385" cy="1688620"/>
          </a:xfrm>
          <a:prstGeom prst="wedgeEllipseCallout">
            <a:avLst>
              <a:gd name="adj1" fmla="val -60607"/>
              <a:gd name="adj2" fmla="val -54206"/>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sz="1800"/>
          </a:p>
        </p:txBody>
      </p:sp>
      <p:sp>
        <p:nvSpPr>
          <p:cNvPr id="4" name="ZoneTexte 3">
            <a:extLst>
              <a:ext uri="{FF2B5EF4-FFF2-40B4-BE49-F238E27FC236}">
                <a16:creationId xmlns:a16="http://schemas.microsoft.com/office/drawing/2014/main" id="{8DA6BB9D-D555-AE8D-CA9D-99D5990CE5D6}"/>
              </a:ext>
            </a:extLst>
          </p:cNvPr>
          <p:cNvSpPr txBox="1"/>
          <p:nvPr/>
        </p:nvSpPr>
        <p:spPr>
          <a:xfrm>
            <a:off x="7394994" y="2144629"/>
            <a:ext cx="1699215" cy="1200329"/>
          </a:xfrm>
          <a:prstGeom prst="rect">
            <a:avLst/>
          </a:prstGeom>
          <a:noFill/>
        </p:spPr>
        <p:txBody>
          <a:bodyPr wrap="square" rtlCol="0">
            <a:spAutoFit/>
          </a:bodyPr>
          <a:lstStyle/>
          <a:p>
            <a:r>
              <a:rPr lang="fr-FR" sz="1800">
                <a:solidFill>
                  <a:schemeClr val="bg1"/>
                </a:solidFill>
              </a:rPr>
              <a:t>Respecter cet ordre!!</a:t>
            </a:r>
          </a:p>
          <a:p>
            <a:r>
              <a:rPr lang="fr-FR" sz="1800">
                <a:solidFill>
                  <a:schemeClr val="bg1"/>
                </a:solidFill>
              </a:rPr>
              <a:t>Notamment sur COPILOT!</a:t>
            </a:r>
          </a:p>
        </p:txBody>
      </p:sp>
    </p:spTree>
    <p:extLst>
      <p:ext uri="{BB962C8B-B14F-4D97-AF65-F5344CB8AC3E}">
        <p14:creationId xmlns:p14="http://schemas.microsoft.com/office/powerpoint/2010/main" val="229252197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A0DD4A7-9DA8-1AE6-4ECF-F864F2466AC3}"/>
              </a:ext>
            </a:extLst>
          </p:cNvPr>
          <p:cNvSpPr>
            <a:spLocks noGrp="1"/>
          </p:cNvSpPr>
          <p:nvPr>
            <p:ph type="title"/>
          </p:nvPr>
        </p:nvSpPr>
        <p:spPr>
          <a:xfrm>
            <a:off x="71440" y="1012276"/>
            <a:ext cx="2071688" cy="4833449"/>
          </a:xfrm>
        </p:spPr>
        <p:txBody>
          <a:bodyPr/>
          <a:lstStyle/>
          <a:p>
            <a:r>
              <a:rPr lang="en-US" err="1"/>
              <a:t>Testez</a:t>
            </a:r>
            <a:r>
              <a:rPr lang="en-US"/>
              <a:t>!!</a:t>
            </a:r>
            <a:br>
              <a:rPr lang="en-US"/>
            </a:br>
            <a:br>
              <a:rPr lang="en-US"/>
            </a:br>
            <a:r>
              <a:rPr lang="en-US" sz="2100"/>
              <a:t>Tous les </a:t>
            </a:r>
            <a:r>
              <a:rPr lang="en-US" sz="2100" err="1"/>
              <a:t>jours</a:t>
            </a:r>
            <a:r>
              <a:rPr lang="en-US" sz="2100"/>
              <a:t> des </a:t>
            </a:r>
            <a:r>
              <a:rPr lang="en-US" sz="2100" err="1"/>
              <a:t>idées</a:t>
            </a:r>
            <a:r>
              <a:rPr lang="en-US" sz="2100"/>
              <a:t> pour prompter </a:t>
            </a:r>
            <a:r>
              <a:rPr lang="en-US" sz="2100" err="1"/>
              <a:t>sont</a:t>
            </a:r>
            <a:r>
              <a:rPr lang="en-US" sz="2100"/>
              <a:t> sur les réseaux.</a:t>
            </a:r>
          </a:p>
        </p:txBody>
      </p:sp>
      <p:pic>
        <p:nvPicPr>
          <p:cNvPr id="1026" name="Picture 2">
            <a:extLst>
              <a:ext uri="{FF2B5EF4-FFF2-40B4-BE49-F238E27FC236}">
                <a16:creationId xmlns:a16="http://schemas.microsoft.com/office/drawing/2014/main" id="{25FCA7C2-121E-03CD-B21B-A8CAB32E77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41" r="4947"/>
          <a:stretch>
            <a:fillRect/>
          </a:stretch>
        </p:blipFill>
        <p:spPr bwMode="auto">
          <a:xfrm>
            <a:off x="2660302" y="950559"/>
            <a:ext cx="6074229" cy="4833449"/>
          </a:xfrm>
          <a:prstGeom prst="rect">
            <a:avLst/>
          </a:prstGeom>
          <a:solidFill>
            <a:srgbClr val="FFFFFF"/>
          </a:solidFill>
        </p:spPr>
      </p:pic>
    </p:spTree>
    <p:extLst>
      <p:ext uri="{BB962C8B-B14F-4D97-AF65-F5344CB8AC3E}">
        <p14:creationId xmlns:p14="http://schemas.microsoft.com/office/powerpoint/2010/main" val="2222363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00B3CB-7458-AD76-00A8-9E4A58B7D302}"/>
              </a:ext>
            </a:extLst>
          </p:cNvPr>
          <p:cNvSpPr>
            <a:spLocks noGrp="1"/>
          </p:cNvSpPr>
          <p:nvPr>
            <p:ph type="title"/>
          </p:nvPr>
        </p:nvSpPr>
        <p:spPr/>
        <p:txBody>
          <a:bodyPr/>
          <a:lstStyle/>
          <a:p>
            <a:r>
              <a:rPr lang="fr-FR" dirty="0"/>
              <a:t>Un nouveau métier</a:t>
            </a:r>
          </a:p>
        </p:txBody>
      </p:sp>
      <p:sp>
        <p:nvSpPr>
          <p:cNvPr id="3" name="Espace réservé du contenu 2">
            <a:extLst>
              <a:ext uri="{FF2B5EF4-FFF2-40B4-BE49-F238E27FC236}">
                <a16:creationId xmlns:a16="http://schemas.microsoft.com/office/drawing/2014/main" id="{B62A9C2F-8D79-AD5D-7196-AEFA015F8EAD}"/>
              </a:ext>
            </a:extLst>
          </p:cNvPr>
          <p:cNvSpPr>
            <a:spLocks noGrp="1"/>
          </p:cNvSpPr>
          <p:nvPr>
            <p:ph idx="1"/>
          </p:nvPr>
        </p:nvSpPr>
        <p:spPr/>
        <p:txBody>
          <a:bodyPr/>
          <a:lstStyle/>
          <a:p>
            <a:r>
              <a:rPr lang="fr-FR" dirty="0"/>
              <a:t>Prompt Engineering</a:t>
            </a:r>
          </a:p>
          <a:p>
            <a:pPr lvl="1"/>
            <a:r>
              <a:rPr lang="fr-FR" dirty="0"/>
              <a:t>L’art de poser les bonnes questions</a:t>
            </a:r>
          </a:p>
        </p:txBody>
      </p:sp>
      <p:pic>
        <p:nvPicPr>
          <p:cNvPr id="5" name="Image 4">
            <a:extLst>
              <a:ext uri="{FF2B5EF4-FFF2-40B4-BE49-F238E27FC236}">
                <a16:creationId xmlns:a16="http://schemas.microsoft.com/office/drawing/2014/main" id="{69B65E51-CD26-8726-F4FD-E1C0022F7447}"/>
              </a:ext>
            </a:extLst>
          </p:cNvPr>
          <p:cNvPicPr>
            <a:picLocks noChangeAspect="1"/>
          </p:cNvPicPr>
          <p:nvPr/>
        </p:nvPicPr>
        <p:blipFill>
          <a:blip r:embed="rId2"/>
          <a:stretch>
            <a:fillRect/>
          </a:stretch>
        </p:blipFill>
        <p:spPr>
          <a:xfrm>
            <a:off x="395536" y="2708920"/>
            <a:ext cx="8145012" cy="3343742"/>
          </a:xfrm>
          <a:prstGeom prst="rect">
            <a:avLst/>
          </a:prstGeom>
        </p:spPr>
      </p:pic>
    </p:spTree>
    <p:extLst>
      <p:ext uri="{BB962C8B-B14F-4D97-AF65-F5344CB8AC3E}">
        <p14:creationId xmlns:p14="http://schemas.microsoft.com/office/powerpoint/2010/main" val="3176300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AEBD8-F4FD-1484-1590-DA5456F757FA}"/>
              </a:ext>
            </a:extLst>
          </p:cNvPr>
          <p:cNvSpPr>
            <a:spLocks noGrp="1"/>
          </p:cNvSpPr>
          <p:nvPr>
            <p:ph type="title"/>
          </p:nvPr>
        </p:nvSpPr>
        <p:spPr/>
        <p:txBody>
          <a:bodyPr/>
          <a:lstStyle/>
          <a:p>
            <a:r>
              <a:rPr lang="fr-FR" dirty="0"/>
              <a:t>Prompt Engineering</a:t>
            </a:r>
          </a:p>
        </p:txBody>
      </p:sp>
      <p:sp>
        <p:nvSpPr>
          <p:cNvPr id="3" name="Espace réservé du contenu 2">
            <a:extLst>
              <a:ext uri="{FF2B5EF4-FFF2-40B4-BE49-F238E27FC236}">
                <a16:creationId xmlns:a16="http://schemas.microsoft.com/office/drawing/2014/main" id="{AB0B0DFC-5926-BFEB-41F9-1E37567D4737}"/>
              </a:ext>
            </a:extLst>
          </p:cNvPr>
          <p:cNvSpPr>
            <a:spLocks noGrp="1"/>
          </p:cNvSpPr>
          <p:nvPr>
            <p:ph idx="1"/>
          </p:nvPr>
        </p:nvSpPr>
        <p:spPr/>
        <p:txBody>
          <a:bodyPr/>
          <a:lstStyle/>
          <a:p>
            <a:r>
              <a:rPr lang="fr-FR" dirty="0"/>
              <a:t>Métier du prompt</a:t>
            </a:r>
          </a:p>
          <a:p>
            <a:r>
              <a:rPr lang="fr-FR" dirty="0"/>
              <a:t>Gestion du contexte</a:t>
            </a:r>
          </a:p>
        </p:txBody>
      </p:sp>
      <p:pic>
        <p:nvPicPr>
          <p:cNvPr id="4" name="Image 3">
            <a:extLst>
              <a:ext uri="{FF2B5EF4-FFF2-40B4-BE49-F238E27FC236}">
                <a16:creationId xmlns:a16="http://schemas.microsoft.com/office/drawing/2014/main" id="{E7078BCC-F896-D423-45AB-F912E85E26ED}"/>
              </a:ext>
            </a:extLst>
          </p:cNvPr>
          <p:cNvPicPr>
            <a:picLocks noChangeAspect="1"/>
          </p:cNvPicPr>
          <p:nvPr/>
        </p:nvPicPr>
        <p:blipFill>
          <a:blip r:embed="rId2"/>
          <a:stretch>
            <a:fillRect/>
          </a:stretch>
        </p:blipFill>
        <p:spPr>
          <a:xfrm>
            <a:off x="-135521" y="2956224"/>
            <a:ext cx="9415041" cy="2501310"/>
          </a:xfrm>
          <a:prstGeom prst="rect">
            <a:avLst/>
          </a:prstGeom>
        </p:spPr>
      </p:pic>
    </p:spTree>
    <p:extLst>
      <p:ext uri="{BB962C8B-B14F-4D97-AF65-F5344CB8AC3E}">
        <p14:creationId xmlns:p14="http://schemas.microsoft.com/office/powerpoint/2010/main" val="219599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AD6C7-A535-A75F-58E2-BC5728D20EC9}"/>
              </a:ext>
            </a:extLst>
          </p:cNvPr>
          <p:cNvSpPr>
            <a:spLocks noGrp="1"/>
          </p:cNvSpPr>
          <p:nvPr>
            <p:ph type="title"/>
          </p:nvPr>
        </p:nvSpPr>
        <p:spPr/>
        <p:txBody>
          <a:bodyPr/>
          <a:lstStyle/>
          <a:p>
            <a:r>
              <a:rPr lang="fr-FR" dirty="0"/>
              <a:t>Qu’est-ce qu’un prompt ?</a:t>
            </a:r>
          </a:p>
        </p:txBody>
      </p:sp>
      <p:sp>
        <p:nvSpPr>
          <p:cNvPr id="3" name="Espace réservé du contenu 2">
            <a:extLst>
              <a:ext uri="{FF2B5EF4-FFF2-40B4-BE49-F238E27FC236}">
                <a16:creationId xmlns:a16="http://schemas.microsoft.com/office/drawing/2014/main" id="{1E243243-217E-D951-2FD7-484822D675C1}"/>
              </a:ext>
            </a:extLst>
          </p:cNvPr>
          <p:cNvSpPr>
            <a:spLocks noGrp="1"/>
          </p:cNvSpPr>
          <p:nvPr>
            <p:ph idx="1"/>
          </p:nvPr>
        </p:nvSpPr>
        <p:spPr/>
        <p:txBody>
          <a:bodyPr/>
          <a:lstStyle/>
          <a:p>
            <a:r>
              <a:rPr lang="fr-FR" dirty="0"/>
              <a:t>Un prompt pour un LLM est une entrée textuelle qui initie une conversation ou déclenche une réponse du modèle</a:t>
            </a:r>
          </a:p>
          <a:p>
            <a:pPr lvl="1"/>
            <a:r>
              <a:rPr lang="fr-FR" dirty="0"/>
              <a:t>Cependant, il peut aussi prendre d’autres formes, comme une image ou un audio</a:t>
            </a:r>
          </a:p>
        </p:txBody>
      </p:sp>
    </p:spTree>
    <p:extLst>
      <p:ext uri="{BB962C8B-B14F-4D97-AF65-F5344CB8AC3E}">
        <p14:creationId xmlns:p14="http://schemas.microsoft.com/office/powerpoint/2010/main" val="112109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D8B51B-CEAE-DCB9-5D48-E1E7F855ABAC}"/>
              </a:ext>
            </a:extLst>
          </p:cNvPr>
          <p:cNvSpPr>
            <a:spLocks noGrp="1"/>
          </p:cNvSpPr>
          <p:nvPr>
            <p:ph type="title"/>
          </p:nvPr>
        </p:nvSpPr>
        <p:spPr/>
        <p:txBody>
          <a:bodyPr/>
          <a:lstStyle/>
          <a:p>
            <a:r>
              <a:rPr lang="fr-FR" dirty="0"/>
              <a:t>Qu’est-ce que le prompt engineering ?</a:t>
            </a:r>
          </a:p>
        </p:txBody>
      </p:sp>
      <p:sp>
        <p:nvSpPr>
          <p:cNvPr id="3" name="Espace réservé du contenu 2">
            <a:extLst>
              <a:ext uri="{FF2B5EF4-FFF2-40B4-BE49-F238E27FC236}">
                <a16:creationId xmlns:a16="http://schemas.microsoft.com/office/drawing/2014/main" id="{819541DB-EB23-F2B9-AD75-0DE6330840FB}"/>
              </a:ext>
            </a:extLst>
          </p:cNvPr>
          <p:cNvSpPr>
            <a:spLocks noGrp="1"/>
          </p:cNvSpPr>
          <p:nvPr>
            <p:ph idx="1"/>
          </p:nvPr>
        </p:nvSpPr>
        <p:spPr/>
        <p:txBody>
          <a:bodyPr/>
          <a:lstStyle/>
          <a:p>
            <a:r>
              <a:rPr lang="fr-FR" dirty="0"/>
              <a:t>Le prompt engineering est le processus qui consiste à concevoir et optimiser des prompts d’entrée afin de guider efficacement les réponses d’un modèle de langage</a:t>
            </a:r>
          </a:p>
        </p:txBody>
      </p:sp>
    </p:spTree>
    <p:extLst>
      <p:ext uri="{BB962C8B-B14F-4D97-AF65-F5344CB8AC3E}">
        <p14:creationId xmlns:p14="http://schemas.microsoft.com/office/powerpoint/2010/main" val="1547333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B6550A-C66A-CE0F-2CE4-4C1D43F90BCE}"/>
              </a:ext>
            </a:extLst>
          </p:cNvPr>
          <p:cNvSpPr>
            <a:spLocks noGrp="1"/>
          </p:cNvSpPr>
          <p:nvPr>
            <p:ph type="title"/>
          </p:nvPr>
        </p:nvSpPr>
        <p:spPr/>
        <p:txBody>
          <a:bodyPr/>
          <a:lstStyle/>
          <a:p>
            <a:r>
              <a:rPr lang="fr-FR" dirty="0"/>
              <a:t>Soyez clair et précis</a:t>
            </a:r>
          </a:p>
        </p:txBody>
      </p:sp>
      <p:sp>
        <p:nvSpPr>
          <p:cNvPr id="3" name="Espace réservé du contenu 2">
            <a:extLst>
              <a:ext uri="{FF2B5EF4-FFF2-40B4-BE49-F238E27FC236}">
                <a16:creationId xmlns:a16="http://schemas.microsoft.com/office/drawing/2014/main" id="{14E9E029-43CA-6BF3-1174-43FCF4C716C6}"/>
              </a:ext>
            </a:extLst>
          </p:cNvPr>
          <p:cNvSpPr>
            <a:spLocks noGrp="1"/>
          </p:cNvSpPr>
          <p:nvPr>
            <p:ph idx="1"/>
          </p:nvPr>
        </p:nvSpPr>
        <p:spPr/>
        <p:txBody>
          <a:bodyPr/>
          <a:lstStyle/>
          <a:p>
            <a:r>
              <a:rPr lang="fr-FR" dirty="0"/>
              <a:t>Assurez-vous que vos prompts sont clairs, précis et qu’ils fournissent suffisamment de contexte pour que le modèle comprenne ce que vous demandez</a:t>
            </a:r>
          </a:p>
          <a:p>
            <a:r>
              <a:rPr lang="fr-FR" dirty="0"/>
              <a:t>Évitez toute ambiguïté et soyez aussi précis que possible afin d’obtenir des réponses exactes et pertinentes.</a:t>
            </a:r>
          </a:p>
        </p:txBody>
      </p:sp>
    </p:spTree>
    <p:extLst>
      <p:ext uri="{BB962C8B-B14F-4D97-AF65-F5344CB8AC3E}">
        <p14:creationId xmlns:p14="http://schemas.microsoft.com/office/powerpoint/2010/main" val="1714563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C191EC-6D20-F0BE-C601-4F2B14F0E6D5}"/>
              </a:ext>
            </a:extLst>
          </p:cNvPr>
          <p:cNvSpPr>
            <a:spLocks noGrp="1"/>
          </p:cNvSpPr>
          <p:nvPr>
            <p:ph type="title"/>
          </p:nvPr>
        </p:nvSpPr>
        <p:spPr/>
        <p:txBody>
          <a:bodyPr/>
          <a:lstStyle/>
          <a:p>
            <a:r>
              <a:rPr lang="fr-FR" dirty="0"/>
              <a:t>Contexte</a:t>
            </a:r>
          </a:p>
        </p:txBody>
      </p:sp>
      <p:sp>
        <p:nvSpPr>
          <p:cNvPr id="3" name="Espace réservé du contenu 2">
            <a:extLst>
              <a:ext uri="{FF2B5EF4-FFF2-40B4-BE49-F238E27FC236}">
                <a16:creationId xmlns:a16="http://schemas.microsoft.com/office/drawing/2014/main" id="{C4433756-41DD-3C4E-3884-75AD64B2DF14}"/>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71C5FE83-1339-AC00-113E-CBB1A0CCD3B1}"/>
              </a:ext>
            </a:extLst>
          </p:cNvPr>
          <p:cNvPicPr>
            <a:picLocks noChangeAspect="1"/>
          </p:cNvPicPr>
          <p:nvPr/>
        </p:nvPicPr>
        <p:blipFill>
          <a:blip r:embed="rId2"/>
          <a:stretch>
            <a:fillRect/>
          </a:stretch>
        </p:blipFill>
        <p:spPr>
          <a:xfrm>
            <a:off x="717485" y="1971537"/>
            <a:ext cx="7361558" cy="3189246"/>
          </a:xfrm>
          <a:prstGeom prst="rect">
            <a:avLst/>
          </a:prstGeom>
        </p:spPr>
      </p:pic>
    </p:spTree>
    <p:extLst>
      <p:ext uri="{BB962C8B-B14F-4D97-AF65-F5344CB8AC3E}">
        <p14:creationId xmlns:p14="http://schemas.microsoft.com/office/powerpoint/2010/main" val="3640760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3EDC3D-04E7-3809-29C7-26EDB023CE52}"/>
              </a:ext>
            </a:extLst>
          </p:cNvPr>
          <p:cNvSpPr>
            <a:spLocks noGrp="1"/>
          </p:cNvSpPr>
          <p:nvPr>
            <p:ph type="title"/>
          </p:nvPr>
        </p:nvSpPr>
        <p:spPr/>
        <p:txBody>
          <a:bodyPr/>
          <a:lstStyle/>
          <a:p>
            <a:r>
              <a:rPr lang="fr-FR" dirty="0"/>
              <a:t>Amélioration itérative</a:t>
            </a:r>
          </a:p>
        </p:txBody>
      </p:sp>
      <p:sp>
        <p:nvSpPr>
          <p:cNvPr id="3" name="Espace réservé du contenu 2">
            <a:extLst>
              <a:ext uri="{FF2B5EF4-FFF2-40B4-BE49-F238E27FC236}">
                <a16:creationId xmlns:a16="http://schemas.microsoft.com/office/drawing/2014/main" id="{F9C70E5D-63D2-72AA-C65A-BA27C3D281C8}"/>
              </a:ext>
            </a:extLst>
          </p:cNvPr>
          <p:cNvSpPr>
            <a:spLocks noGrp="1"/>
          </p:cNvSpPr>
          <p:nvPr>
            <p:ph idx="1"/>
          </p:nvPr>
        </p:nvSpPr>
        <p:spPr/>
        <p:txBody>
          <a:bodyPr/>
          <a:lstStyle/>
          <a:p>
            <a:r>
              <a:rPr lang="fr-FR" dirty="0"/>
              <a:t>Le prompt engineering nécessite souvent une approche itérative</a:t>
            </a:r>
          </a:p>
          <a:p>
            <a:r>
              <a:rPr lang="fr-FR" dirty="0"/>
              <a:t>Commencez par un prompt initial, examinez la réponse, puis affinez le prompt en fonction du résultat</a:t>
            </a:r>
          </a:p>
          <a:p>
            <a:r>
              <a:rPr lang="fr-FR" dirty="0"/>
              <a:t>Ajustez la formulation, ajoutez plus de contexte ou simplifiez la demande si nécessaire pour améliorer les résultats.</a:t>
            </a:r>
          </a:p>
        </p:txBody>
      </p:sp>
    </p:spTree>
    <p:extLst>
      <p:ext uri="{BB962C8B-B14F-4D97-AF65-F5344CB8AC3E}">
        <p14:creationId xmlns:p14="http://schemas.microsoft.com/office/powerpoint/2010/main" val="378831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F0E200-649C-D7CD-E2B4-C5BDC85832CF}"/>
              </a:ext>
            </a:extLst>
          </p:cNvPr>
          <p:cNvSpPr>
            <a:spLocks noGrp="1"/>
          </p:cNvSpPr>
          <p:nvPr>
            <p:ph type="title"/>
          </p:nvPr>
        </p:nvSpPr>
        <p:spPr/>
        <p:txBody>
          <a:bodyPr/>
          <a:lstStyle/>
          <a:p>
            <a:r>
              <a:rPr lang="fr-FR" dirty="0"/>
              <a:t>Demander un ton différent</a:t>
            </a:r>
          </a:p>
        </p:txBody>
      </p:sp>
      <p:sp>
        <p:nvSpPr>
          <p:cNvPr id="3" name="Espace réservé du contenu 2">
            <a:extLst>
              <a:ext uri="{FF2B5EF4-FFF2-40B4-BE49-F238E27FC236}">
                <a16:creationId xmlns:a16="http://schemas.microsoft.com/office/drawing/2014/main" id="{F7DBC06A-FCE4-500F-69D5-577551B4790C}"/>
              </a:ext>
            </a:extLst>
          </p:cNvPr>
          <p:cNvSpPr>
            <a:spLocks noGrp="1"/>
          </p:cNvSpPr>
          <p:nvPr>
            <p:ph idx="1"/>
          </p:nvPr>
        </p:nvSpPr>
        <p:spPr/>
        <p:txBody>
          <a:bodyPr/>
          <a:lstStyle/>
          <a:p>
            <a:r>
              <a:rPr lang="fr-FR" dirty="0"/>
              <a:t>Utilisez des adjectifs descriptifs pour indiquer le ton</a:t>
            </a:r>
          </a:p>
          <a:p>
            <a:r>
              <a:rPr lang="fr-FR" dirty="0"/>
              <a:t>Des mots comme formel, informel, convivial, professionnel, humoristique ou sérieux peuvent aider à guider le modèle</a:t>
            </a:r>
          </a:p>
          <a:p>
            <a:r>
              <a:rPr lang="fr-FR" dirty="0"/>
              <a:t>Par exemple : « Expliquez cela sur un ton convivial et engageant. »</a:t>
            </a:r>
          </a:p>
        </p:txBody>
      </p:sp>
    </p:spTree>
    <p:extLst>
      <p:ext uri="{BB962C8B-B14F-4D97-AF65-F5344CB8AC3E}">
        <p14:creationId xmlns:p14="http://schemas.microsoft.com/office/powerpoint/2010/main" val="60813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E56FD-3590-EED0-CBDE-8B31BD06C975}"/>
              </a:ext>
            </a:extLst>
          </p:cNvPr>
          <p:cNvSpPr>
            <a:spLocks noGrp="1"/>
          </p:cNvSpPr>
          <p:nvPr>
            <p:ph type="title"/>
          </p:nvPr>
        </p:nvSpPr>
        <p:spPr/>
        <p:txBody>
          <a:bodyPr/>
          <a:lstStyle/>
          <a:p>
            <a:r>
              <a:rPr lang="fr-FR" dirty="0"/>
              <a:t>Prompt simple</a:t>
            </a:r>
          </a:p>
        </p:txBody>
      </p:sp>
      <p:sp>
        <p:nvSpPr>
          <p:cNvPr id="3" name="Espace réservé du contenu 2">
            <a:extLst>
              <a:ext uri="{FF2B5EF4-FFF2-40B4-BE49-F238E27FC236}">
                <a16:creationId xmlns:a16="http://schemas.microsoft.com/office/drawing/2014/main" id="{959DA140-C704-75E2-90AC-FF603A2ED4CA}"/>
              </a:ext>
            </a:extLst>
          </p:cNvPr>
          <p:cNvSpPr>
            <a:spLocks noGrp="1"/>
          </p:cNvSpPr>
          <p:nvPr>
            <p:ph idx="1"/>
          </p:nvPr>
        </p:nvSpPr>
        <p:spPr/>
        <p:txBody>
          <a:bodyPr/>
          <a:lstStyle/>
          <a:p>
            <a:r>
              <a:rPr lang="fr-FR" dirty="0"/>
              <a:t>Un prompt simple, c'est une instruction directe, naturelle, sans mise en forme particulière</a:t>
            </a:r>
          </a:p>
          <a:p>
            <a:pPr lvl="1"/>
            <a:r>
              <a:rPr lang="fr-FR" dirty="0"/>
              <a:t>Comme on parlerait à quelqu'un</a:t>
            </a:r>
          </a:p>
          <a:p>
            <a:pPr lvl="1"/>
            <a:r>
              <a:rPr lang="fr-FR" dirty="0"/>
              <a:t>"Explique-moi comment fonctionne une API REST."</a:t>
            </a:r>
          </a:p>
        </p:txBody>
      </p:sp>
    </p:spTree>
    <p:extLst>
      <p:ext uri="{BB962C8B-B14F-4D97-AF65-F5344CB8AC3E}">
        <p14:creationId xmlns:p14="http://schemas.microsoft.com/office/powerpoint/2010/main" val="289199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14794E6-91D2-E2DD-A0DE-2735E065DF5F}"/>
              </a:ext>
            </a:extLst>
          </p:cNvPr>
          <p:cNvSpPr>
            <a:spLocks noGrp="1"/>
          </p:cNvSpPr>
          <p:nvPr>
            <p:ph type="title"/>
          </p:nvPr>
        </p:nvSpPr>
        <p:spPr>
          <a:xfrm>
            <a:off x="623888" y="2139554"/>
            <a:ext cx="7886700" cy="2139553"/>
          </a:xfrm>
        </p:spPr>
        <p:txBody>
          <a:bodyPr/>
          <a:lstStyle/>
          <a:p>
            <a:r>
              <a:rPr lang="en-US" err="1"/>
              <a:t>Faites</a:t>
            </a:r>
            <a:r>
              <a:rPr lang="en-US"/>
              <a:t> </a:t>
            </a:r>
            <a:r>
              <a:rPr lang="en-US" err="1"/>
              <a:t>rédiger</a:t>
            </a:r>
            <a:r>
              <a:rPr lang="en-US"/>
              <a:t> </a:t>
            </a:r>
            <a:r>
              <a:rPr lang="en-US" err="1"/>
              <a:t>vos</a:t>
            </a:r>
            <a:r>
              <a:rPr lang="en-US"/>
              <a:t> prompts par </a:t>
            </a:r>
            <a:r>
              <a:rPr lang="en-US" err="1"/>
              <a:t>votre</a:t>
            </a:r>
            <a:r>
              <a:rPr lang="en-US"/>
              <a:t> IA! </a:t>
            </a:r>
          </a:p>
        </p:txBody>
      </p:sp>
      <p:sp>
        <p:nvSpPr>
          <p:cNvPr id="10" name="Text Placeholder 2">
            <a:extLst>
              <a:ext uri="{FF2B5EF4-FFF2-40B4-BE49-F238E27FC236}">
                <a16:creationId xmlns:a16="http://schemas.microsoft.com/office/drawing/2014/main" id="{69933737-E502-2BFE-BEEE-616BC8B5D418}"/>
              </a:ext>
            </a:extLst>
          </p:cNvPr>
          <p:cNvSpPr>
            <a:spLocks noGrp="1"/>
          </p:cNvSpPr>
          <p:nvPr>
            <p:ph type="body" idx="1"/>
          </p:nvPr>
        </p:nvSpPr>
        <p:spPr>
          <a:xfrm>
            <a:off x="623888" y="4299348"/>
            <a:ext cx="7886700" cy="1125140"/>
          </a:xfrm>
        </p:spPr>
        <p:txBody>
          <a:bodyPr/>
          <a:lstStyle/>
          <a:p>
            <a:endParaRPr lang="en-US"/>
          </a:p>
        </p:txBody>
      </p:sp>
      <p:sp>
        <p:nvSpPr>
          <p:cNvPr id="12" name="Text Placeholder 3">
            <a:extLst>
              <a:ext uri="{FF2B5EF4-FFF2-40B4-BE49-F238E27FC236}">
                <a16:creationId xmlns:a16="http://schemas.microsoft.com/office/drawing/2014/main" id="{6EF5F257-C033-C56F-E026-62D3810E1151}"/>
              </a:ext>
            </a:extLst>
          </p:cNvPr>
          <p:cNvSpPr>
            <a:spLocks noGrp="1"/>
          </p:cNvSpPr>
          <p:nvPr>
            <p:ph type="body" sz="quarter" idx="13"/>
          </p:nvPr>
        </p:nvSpPr>
        <p:spPr>
          <a:xfrm>
            <a:off x="623888" y="1814513"/>
            <a:ext cx="1970485" cy="325041"/>
          </a:xfrm>
        </p:spPr>
        <p:txBody>
          <a:bodyPr>
            <a:normAutofit fontScale="62500" lnSpcReduction="20000"/>
          </a:bodyPr>
          <a:lstStyle/>
          <a:p>
            <a:r>
              <a:rPr lang="en-US"/>
              <a:t>Mon conseil:</a:t>
            </a:r>
          </a:p>
        </p:txBody>
      </p:sp>
    </p:spTree>
    <p:extLst>
      <p:ext uri="{BB962C8B-B14F-4D97-AF65-F5344CB8AC3E}">
        <p14:creationId xmlns:p14="http://schemas.microsoft.com/office/powerpoint/2010/main" val="3754434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7473EA-03FF-554F-A3E3-67BDD5890E0D}"/>
              </a:ext>
            </a:extLst>
          </p:cNvPr>
          <p:cNvSpPr>
            <a:spLocks noGrp="1"/>
          </p:cNvSpPr>
          <p:nvPr>
            <p:ph type="title"/>
          </p:nvPr>
        </p:nvSpPr>
        <p:spPr>
          <a:xfrm>
            <a:off x="623888" y="2139554"/>
            <a:ext cx="7886700" cy="2139553"/>
          </a:xfrm>
        </p:spPr>
        <p:txBody>
          <a:bodyPr anchor="ctr">
            <a:normAutofit/>
          </a:bodyPr>
          <a:lstStyle/>
          <a:p>
            <a:r>
              <a:rPr lang="fr-FR" dirty="0"/>
              <a:t>1 prompt</a:t>
            </a:r>
            <a:br>
              <a:rPr lang="fr-FR" dirty="0">
                <a:cs typeface="Segoe UI Semibold"/>
              </a:rPr>
            </a:br>
            <a:r>
              <a:rPr lang="fr-FR" dirty="0"/>
              <a:t> 3 IA (ou 4 ou 5)</a:t>
            </a:r>
          </a:p>
        </p:txBody>
      </p:sp>
      <p:sp>
        <p:nvSpPr>
          <p:cNvPr id="7" name="Text Placeholder 2">
            <a:extLst>
              <a:ext uri="{FF2B5EF4-FFF2-40B4-BE49-F238E27FC236}">
                <a16:creationId xmlns:a16="http://schemas.microsoft.com/office/drawing/2014/main" id="{565A2C70-37DE-A7F3-754F-5AD43471C029}"/>
              </a:ext>
            </a:extLst>
          </p:cNvPr>
          <p:cNvSpPr>
            <a:spLocks noGrp="1"/>
          </p:cNvSpPr>
          <p:nvPr>
            <p:ph type="body" idx="1"/>
          </p:nvPr>
        </p:nvSpPr>
        <p:spPr>
          <a:xfrm>
            <a:off x="623888" y="4299348"/>
            <a:ext cx="7886700" cy="1125140"/>
          </a:xfrm>
        </p:spPr>
        <p:txBody>
          <a:bodyPr/>
          <a:lstStyle/>
          <a:p>
            <a:endParaRPr lang="en-US"/>
          </a:p>
        </p:txBody>
      </p:sp>
      <p:sp>
        <p:nvSpPr>
          <p:cNvPr id="9" name="Text Placeholder 3">
            <a:extLst>
              <a:ext uri="{FF2B5EF4-FFF2-40B4-BE49-F238E27FC236}">
                <a16:creationId xmlns:a16="http://schemas.microsoft.com/office/drawing/2014/main" id="{31057743-E306-2939-4227-2D97C471FA14}"/>
              </a:ext>
            </a:extLst>
          </p:cNvPr>
          <p:cNvSpPr>
            <a:spLocks noGrp="1"/>
          </p:cNvSpPr>
          <p:nvPr>
            <p:ph type="body" sz="quarter" idx="13"/>
          </p:nvPr>
        </p:nvSpPr>
        <p:spPr>
          <a:xfrm>
            <a:off x="623888" y="1814513"/>
            <a:ext cx="1970485" cy="325041"/>
          </a:xfrm>
        </p:spPr>
        <p:txBody>
          <a:bodyPr>
            <a:normAutofit fontScale="62500" lnSpcReduction="20000"/>
          </a:bodyPr>
          <a:lstStyle/>
          <a:p>
            <a:r>
              <a:rPr lang="en-US"/>
              <a:t>DEFI</a:t>
            </a:r>
          </a:p>
        </p:txBody>
      </p:sp>
    </p:spTree>
    <p:extLst>
      <p:ext uri="{BB962C8B-B14F-4D97-AF65-F5344CB8AC3E}">
        <p14:creationId xmlns:p14="http://schemas.microsoft.com/office/powerpoint/2010/main" val="1623415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671634-8E1A-F811-1435-FB4F5ECAAC68}"/>
              </a:ext>
            </a:extLst>
          </p:cNvPr>
          <p:cNvSpPr>
            <a:spLocks noGrp="1"/>
          </p:cNvSpPr>
          <p:nvPr>
            <p:ph type="title"/>
          </p:nvPr>
        </p:nvSpPr>
        <p:spPr>
          <a:xfrm>
            <a:off x="628650" y="922375"/>
            <a:ext cx="7886700" cy="994172"/>
          </a:xfrm>
        </p:spPr>
        <p:txBody>
          <a:bodyPr anchor="ctr">
            <a:normAutofit/>
          </a:bodyPr>
          <a:lstStyle/>
          <a:p>
            <a:r>
              <a:rPr lang="fr-FR"/>
              <a:t>Objectifs du défi</a:t>
            </a:r>
          </a:p>
        </p:txBody>
      </p:sp>
      <p:pic>
        <p:nvPicPr>
          <p:cNvPr id="5" name="Espace réservé du contenu 4" descr="IA Intelligence artificielle innovation internet technologie informatique">
            <a:extLst>
              <a:ext uri="{FF2B5EF4-FFF2-40B4-BE49-F238E27FC236}">
                <a16:creationId xmlns:a16="http://schemas.microsoft.com/office/drawing/2014/main" id="{24E4ECC8-9254-416C-B964-6F0C27DBB2C5}"/>
              </a:ext>
            </a:extLst>
          </p:cNvPr>
          <p:cNvPicPr>
            <a:picLocks noGrp="1" noChangeAspect="1"/>
          </p:cNvPicPr>
          <p:nvPr>
            <p:ph sz="half" idx="1"/>
          </p:nvPr>
        </p:nvPicPr>
        <p:blipFill>
          <a:blip r:embed="rId3"/>
          <a:srcRect l="10757" r="9756" b="-1"/>
          <a:stretch>
            <a:fillRect/>
          </a:stretch>
        </p:blipFill>
        <p:spPr>
          <a:xfrm>
            <a:off x="628650" y="2226469"/>
            <a:ext cx="3886200" cy="3263504"/>
          </a:xfrm>
          <a:prstGeom prst="rect">
            <a:avLst/>
          </a:prstGeom>
          <a:noFill/>
        </p:spPr>
      </p:pic>
      <p:sp>
        <p:nvSpPr>
          <p:cNvPr id="4" name="Espace réservé du contenu 3">
            <a:extLst>
              <a:ext uri="{FF2B5EF4-FFF2-40B4-BE49-F238E27FC236}">
                <a16:creationId xmlns:a16="http://schemas.microsoft.com/office/drawing/2014/main" id="{31795F68-33A5-A046-04BE-D4E7891A1DD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29150" y="2226469"/>
            <a:ext cx="3886200" cy="3263504"/>
          </a:xfrm>
        </p:spPr>
        <p:txBody>
          <a:bodyPr>
            <a:normAutofit/>
          </a:bodyPr>
          <a:lstStyle/>
          <a:p>
            <a:pPr marL="0" indent="0">
              <a:spcBef>
                <a:spcPts val="1875"/>
              </a:spcBef>
              <a:buNone/>
            </a:pPr>
            <a:r>
              <a:rPr lang="fr-FR" sz="1050" b="1"/>
              <a:t>Différences de ton</a:t>
            </a:r>
          </a:p>
          <a:p>
            <a:pPr marL="0" lvl="1" indent="0">
              <a:buNone/>
            </a:pPr>
            <a:r>
              <a:rPr lang="fr-FR" sz="1050"/>
              <a:t>Observer les variations de ton dans les réponses générées par l'IA pour mieux comprendre leurs impacts.</a:t>
            </a:r>
          </a:p>
          <a:p>
            <a:pPr marL="0" indent="0">
              <a:spcBef>
                <a:spcPts val="1875"/>
              </a:spcBef>
              <a:buNone/>
            </a:pPr>
            <a:r>
              <a:rPr lang="fr-FR" sz="1050" b="1"/>
              <a:t>Structure des réponses</a:t>
            </a:r>
          </a:p>
          <a:p>
            <a:pPr marL="0" lvl="1" indent="0">
              <a:buNone/>
            </a:pPr>
            <a:r>
              <a:rPr lang="fr-FR" sz="1050"/>
              <a:t>Étudier la structure des réponses générées par l'IA afin d'évaluer leur clarté et leur organisation.</a:t>
            </a:r>
          </a:p>
          <a:p>
            <a:pPr marL="0" indent="0">
              <a:spcBef>
                <a:spcPts val="1875"/>
              </a:spcBef>
              <a:buNone/>
            </a:pPr>
            <a:r>
              <a:rPr lang="fr-FR" sz="1050" b="1"/>
              <a:t>Pertinence des contenus</a:t>
            </a:r>
          </a:p>
          <a:p>
            <a:pPr marL="0" lvl="1" indent="0">
              <a:buNone/>
            </a:pPr>
            <a:r>
              <a:rPr lang="fr-FR" sz="1050"/>
              <a:t>Évaluer la pertinence des informations fournies par l'IA en fonction des besoins spécifiques des utilisateurs.</a:t>
            </a:r>
          </a:p>
          <a:p>
            <a:pPr marL="0" indent="0">
              <a:spcBef>
                <a:spcPts val="1875"/>
              </a:spcBef>
              <a:buNone/>
            </a:pPr>
            <a:r>
              <a:rPr lang="fr-FR" sz="1050" b="1"/>
              <a:t>Réflexion sur l'IA</a:t>
            </a:r>
          </a:p>
          <a:p>
            <a:pPr marL="0" lvl="1" indent="0">
              <a:buNone/>
            </a:pPr>
            <a:r>
              <a:rPr lang="fr-FR" sz="1050"/>
              <a:t>Initier une réflexion sur les différentes applications de l'IA et leur adéquation à divers usages.</a:t>
            </a:r>
          </a:p>
        </p:txBody>
      </p:sp>
    </p:spTree>
    <p:extLst>
      <p:ext uri="{BB962C8B-B14F-4D97-AF65-F5344CB8AC3E}">
        <p14:creationId xmlns:p14="http://schemas.microsoft.com/office/powerpoint/2010/main" val="2979647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F307228-6494-DAED-DE77-8AA072E894A9}"/>
              </a:ext>
            </a:extLst>
          </p:cNvPr>
          <p:cNvSpPr>
            <a:spLocks noGrp="1"/>
          </p:cNvSpPr>
          <p:nvPr>
            <p:ph type="title"/>
          </p:nvPr>
        </p:nvSpPr>
        <p:spPr>
          <a:xfrm>
            <a:off x="102055" y="1012276"/>
            <a:ext cx="2071688" cy="4833449"/>
          </a:xfrm>
        </p:spPr>
        <p:txBody>
          <a:bodyPr/>
          <a:lstStyle/>
          <a:p>
            <a:r>
              <a:rPr lang="en-US"/>
              <a:t>La </a:t>
            </a:r>
            <a:r>
              <a:rPr lang="en-US" err="1"/>
              <a:t>recette</a:t>
            </a:r>
            <a:endParaRPr lang="en-US"/>
          </a:p>
        </p:txBody>
      </p:sp>
      <p:sp>
        <p:nvSpPr>
          <p:cNvPr id="11" name="Content Placeholder 2">
            <a:extLst>
              <a:ext uri="{FF2B5EF4-FFF2-40B4-BE49-F238E27FC236}">
                <a16:creationId xmlns:a16="http://schemas.microsoft.com/office/drawing/2014/main" id="{2A76E2A1-7B64-FB3D-6BEA-D3D7C6182D22}"/>
              </a:ext>
            </a:extLst>
          </p:cNvPr>
          <p:cNvSpPr>
            <a:spLocks noGrp="1"/>
          </p:cNvSpPr>
          <p:nvPr>
            <p:ph idx="1"/>
          </p:nvPr>
        </p:nvSpPr>
        <p:spPr>
          <a:xfrm>
            <a:off x="2390505" y="1012275"/>
            <a:ext cx="6398759" cy="4504741"/>
          </a:xfrm>
        </p:spPr>
        <p:txBody>
          <a:bodyPr>
            <a:normAutofit fontScale="85000" lnSpcReduction="20000"/>
          </a:bodyPr>
          <a:lstStyle/>
          <a:p>
            <a:r>
              <a:rPr lang="en-US" err="1"/>
              <a:t>Recette</a:t>
            </a:r>
            <a:r>
              <a:rPr lang="en-US"/>
              <a:t> avec haricot rouge, </a:t>
            </a:r>
            <a:r>
              <a:rPr lang="en-US" err="1"/>
              <a:t>chocolat</a:t>
            </a:r>
            <a:r>
              <a:rPr lang="en-US"/>
              <a:t> et </a:t>
            </a:r>
            <a:r>
              <a:rPr lang="en-US" err="1"/>
              <a:t>poisson</a:t>
            </a:r>
            <a:r>
              <a:rPr lang="en-US"/>
              <a:t> </a:t>
            </a:r>
            <a:r>
              <a:rPr lang="en-US" err="1"/>
              <a:t>pané</a:t>
            </a:r>
            <a:r>
              <a:rPr lang="en-US"/>
              <a:t>…….</a:t>
            </a:r>
            <a:r>
              <a:rPr lang="en-US" err="1"/>
              <a:t>miam</a:t>
            </a:r>
            <a:r>
              <a:rPr lang="en-US"/>
              <a:t> ;)</a:t>
            </a:r>
          </a:p>
          <a:p>
            <a:endParaRPr lang="en-US"/>
          </a:p>
          <a:p>
            <a:r>
              <a:rPr lang="en-US"/>
              <a:t>Le prompt </a:t>
            </a:r>
            <a:r>
              <a:rPr lang="en-US" err="1"/>
              <a:t>optimisé</a:t>
            </a:r>
            <a:r>
              <a:rPr lang="en-US"/>
              <a:t>:</a:t>
            </a:r>
          </a:p>
          <a:p>
            <a:pPr marL="0" indent="0">
              <a:buNone/>
            </a:pPr>
            <a:r>
              <a:rPr lang="en-US" err="1"/>
              <a:t>Crée</a:t>
            </a:r>
            <a:r>
              <a:rPr lang="en-US"/>
              <a:t> un </a:t>
            </a:r>
            <a:r>
              <a:rPr lang="en-US" err="1"/>
              <a:t>recette</a:t>
            </a:r>
            <a:r>
              <a:rPr lang="en-US"/>
              <a:t> </a:t>
            </a:r>
            <a:r>
              <a:rPr lang="en-US" err="1"/>
              <a:t>originale</a:t>
            </a:r>
            <a:r>
              <a:rPr lang="en-US"/>
              <a:t> et </a:t>
            </a:r>
            <a:r>
              <a:rPr lang="en-US" err="1"/>
              <a:t>équilibrée</a:t>
            </a:r>
            <a:r>
              <a:rPr lang="en-US"/>
              <a:t> qui </a:t>
            </a:r>
            <a:r>
              <a:rPr lang="en-US" err="1"/>
              <a:t>associe</a:t>
            </a:r>
            <a:r>
              <a:rPr lang="en-US"/>
              <a:t> du </a:t>
            </a:r>
            <a:r>
              <a:rPr lang="en-US" err="1"/>
              <a:t>poisson</a:t>
            </a:r>
            <a:r>
              <a:rPr lang="en-US"/>
              <a:t> </a:t>
            </a:r>
            <a:r>
              <a:rPr lang="en-US" err="1"/>
              <a:t>pané</a:t>
            </a:r>
            <a:r>
              <a:rPr lang="en-US"/>
              <a:t>, des haricots rouges et du </a:t>
            </a:r>
            <a:r>
              <a:rPr lang="en-US" err="1"/>
              <a:t>chocolat</a:t>
            </a:r>
            <a:r>
              <a:rPr lang="en-US"/>
              <a:t>.</a:t>
            </a:r>
          </a:p>
          <a:p>
            <a:pPr>
              <a:buClr>
                <a:schemeClr val="accent2"/>
              </a:buClr>
              <a:buFont typeface="Wingdings" panose="05000000000000000000" pitchFamily="2" charset="2"/>
              <a:buChar char="§"/>
            </a:pPr>
            <a:r>
              <a:rPr lang="en-US" sz="1050"/>
              <a:t>Donne-</a:t>
            </a:r>
            <a:r>
              <a:rPr lang="en-US" sz="1050" err="1"/>
              <a:t>lui</a:t>
            </a:r>
            <a:r>
              <a:rPr lang="en-US" sz="1050"/>
              <a:t> un nom </a:t>
            </a:r>
            <a:r>
              <a:rPr lang="en-US" sz="1050" err="1"/>
              <a:t>créatif</a:t>
            </a:r>
            <a:endParaRPr lang="en-US" sz="1050"/>
          </a:p>
          <a:p>
            <a:pPr>
              <a:buClr>
                <a:schemeClr val="accent2"/>
              </a:buClr>
              <a:buFont typeface="Wingdings" panose="05000000000000000000" pitchFamily="2" charset="2"/>
              <a:buChar char="§"/>
            </a:pPr>
            <a:r>
              <a:rPr lang="en-US" sz="1050" err="1"/>
              <a:t>Indique</a:t>
            </a:r>
            <a:r>
              <a:rPr lang="en-US" sz="1050"/>
              <a:t> les ingredients précis (avec </a:t>
            </a:r>
            <a:r>
              <a:rPr lang="en-US" sz="1050" err="1"/>
              <a:t>quantités</a:t>
            </a:r>
            <a:r>
              <a:rPr lang="en-US" sz="1050"/>
              <a:t>)</a:t>
            </a:r>
          </a:p>
          <a:p>
            <a:pPr>
              <a:buClr>
                <a:schemeClr val="accent2"/>
              </a:buClr>
              <a:buFont typeface="Wingdings" panose="05000000000000000000" pitchFamily="2" charset="2"/>
              <a:buChar char="§"/>
            </a:pPr>
            <a:r>
              <a:rPr lang="en-US" sz="1050" err="1"/>
              <a:t>Détaille</a:t>
            </a:r>
            <a:r>
              <a:rPr lang="en-US" sz="1050"/>
              <a:t> les étapes de la preparation</a:t>
            </a:r>
          </a:p>
          <a:p>
            <a:pPr>
              <a:buClr>
                <a:schemeClr val="accent2"/>
              </a:buClr>
              <a:buFont typeface="Wingdings" panose="05000000000000000000" pitchFamily="2" charset="2"/>
              <a:buChar char="§"/>
            </a:pPr>
            <a:r>
              <a:rPr lang="en-US" sz="1050" err="1"/>
              <a:t>Explique</a:t>
            </a:r>
            <a:r>
              <a:rPr lang="en-US" sz="1050"/>
              <a:t> la </a:t>
            </a:r>
            <a:r>
              <a:rPr lang="en-US" sz="1050" err="1"/>
              <a:t>logique</a:t>
            </a:r>
            <a:r>
              <a:rPr lang="en-US" sz="1050"/>
              <a:t> </a:t>
            </a:r>
            <a:r>
              <a:rPr lang="en-US" sz="1050" err="1"/>
              <a:t>culinaire</a:t>
            </a:r>
            <a:r>
              <a:rPr lang="en-US" sz="1050"/>
              <a:t> derrière </a:t>
            </a:r>
            <a:r>
              <a:rPr lang="en-US" sz="1050" err="1"/>
              <a:t>l’association</a:t>
            </a:r>
            <a:r>
              <a:rPr lang="en-US" sz="1050"/>
              <a:t> des </a:t>
            </a:r>
            <a:r>
              <a:rPr lang="en-US" sz="1050" err="1"/>
              <a:t>ces</a:t>
            </a:r>
            <a:r>
              <a:rPr lang="en-US" sz="1050"/>
              <a:t> trois ingredients (</a:t>
            </a:r>
            <a:r>
              <a:rPr lang="en-US" sz="1050" err="1"/>
              <a:t>équilibre</a:t>
            </a:r>
            <a:r>
              <a:rPr lang="en-US" sz="1050"/>
              <a:t> des </a:t>
            </a:r>
            <a:r>
              <a:rPr lang="en-US" sz="1050" err="1"/>
              <a:t>saveurs</a:t>
            </a:r>
            <a:r>
              <a:rPr lang="en-US" sz="1050"/>
              <a:t>, texture, techniques </a:t>
            </a:r>
            <a:r>
              <a:rPr lang="en-US" sz="1050" err="1"/>
              <a:t>utilisées</a:t>
            </a:r>
            <a:r>
              <a:rPr lang="en-US" sz="1050"/>
              <a:t>)</a:t>
            </a:r>
          </a:p>
          <a:p>
            <a:pPr>
              <a:buClr>
                <a:schemeClr val="accent2"/>
              </a:buClr>
              <a:buFont typeface="Wingdings" panose="05000000000000000000" pitchFamily="2" charset="2"/>
              <a:buChar char="§"/>
            </a:pPr>
            <a:r>
              <a:rPr lang="en-US" sz="1050" err="1"/>
              <a:t>Précise</a:t>
            </a:r>
            <a:r>
              <a:rPr lang="en-US" sz="1050"/>
              <a:t> le </a:t>
            </a:r>
            <a:r>
              <a:rPr lang="en-US" sz="1050" err="1"/>
              <a:t>niveau</a:t>
            </a:r>
            <a:r>
              <a:rPr lang="en-US" sz="1050"/>
              <a:t> de </a:t>
            </a:r>
            <a:r>
              <a:rPr lang="en-US" sz="1050" err="1"/>
              <a:t>difficulté</a:t>
            </a:r>
            <a:r>
              <a:rPr lang="en-US" sz="1050"/>
              <a:t>, le temps total, et </a:t>
            </a:r>
            <a:r>
              <a:rPr lang="en-US" sz="1050" err="1"/>
              <a:t>une</a:t>
            </a:r>
            <a:r>
              <a:rPr lang="en-US" sz="1050"/>
              <a:t> suggestion </a:t>
            </a:r>
            <a:r>
              <a:rPr lang="en-US" sz="1050" err="1"/>
              <a:t>d’accord</a:t>
            </a:r>
            <a:r>
              <a:rPr lang="en-US" sz="1050"/>
              <a:t> </a:t>
            </a:r>
            <a:r>
              <a:rPr lang="en-US" sz="1050" err="1"/>
              <a:t>mets</a:t>
            </a:r>
            <a:r>
              <a:rPr lang="en-US" sz="1050"/>
              <a:t>-Boisson.</a:t>
            </a:r>
            <a:endParaRPr lang="en-US"/>
          </a:p>
          <a:p>
            <a:pPr marL="0" indent="0">
              <a:buClr>
                <a:schemeClr val="accent2"/>
              </a:buClr>
              <a:buNone/>
            </a:pPr>
            <a:endParaRPr lang="en-US"/>
          </a:p>
          <a:p>
            <a:pPr marL="0" indent="0">
              <a:buClr>
                <a:schemeClr val="accent2"/>
              </a:buClr>
              <a:buNone/>
            </a:pPr>
            <a:r>
              <a:rPr lang="en-US"/>
              <a:t>Et </a:t>
            </a:r>
            <a:r>
              <a:rPr lang="en-US" err="1"/>
              <a:t>si</a:t>
            </a:r>
            <a:r>
              <a:rPr lang="en-US"/>
              <a:t> on </a:t>
            </a:r>
            <a:r>
              <a:rPr lang="en-US" err="1"/>
              <a:t>rajoutait</a:t>
            </a:r>
            <a:r>
              <a:rPr lang="en-US"/>
              <a:t> de “façon chef </a:t>
            </a:r>
            <a:r>
              <a:rPr lang="en-US" err="1"/>
              <a:t>curieux</a:t>
            </a:r>
            <a:r>
              <a:rPr lang="en-US"/>
              <a:t> et </a:t>
            </a:r>
            <a:r>
              <a:rPr lang="en-US" err="1"/>
              <a:t>moderne</a:t>
            </a:r>
            <a:endParaRPr lang="en-US"/>
          </a:p>
        </p:txBody>
      </p:sp>
    </p:spTree>
    <p:extLst>
      <p:ext uri="{BB962C8B-B14F-4D97-AF65-F5344CB8AC3E}">
        <p14:creationId xmlns:p14="http://schemas.microsoft.com/office/powerpoint/2010/main" val="3264549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3E05D07-6F5C-B8C6-E69D-5BA0ADD53F87}"/>
              </a:ext>
            </a:extLst>
          </p:cNvPr>
          <p:cNvSpPr>
            <a:spLocks noGrp="1"/>
          </p:cNvSpPr>
          <p:nvPr>
            <p:ph type="title"/>
          </p:nvPr>
        </p:nvSpPr>
        <p:spPr>
          <a:xfrm>
            <a:off x="70999" y="1012275"/>
            <a:ext cx="2071688" cy="4833449"/>
          </a:xfrm>
        </p:spPr>
        <p:txBody>
          <a:bodyPr/>
          <a:lstStyle/>
          <a:p>
            <a:r>
              <a:rPr lang="en-US" dirty="0"/>
              <a:t>IA </a:t>
            </a:r>
            <a:r>
              <a:rPr lang="en-US" dirty="0" err="1"/>
              <a:t>c’est</a:t>
            </a:r>
            <a:r>
              <a:rPr lang="en-US" dirty="0"/>
              <a:t> quoi?</a:t>
            </a:r>
          </a:p>
        </p:txBody>
      </p:sp>
      <p:sp>
        <p:nvSpPr>
          <p:cNvPr id="13" name="Content Placeholder 2">
            <a:extLst>
              <a:ext uri="{FF2B5EF4-FFF2-40B4-BE49-F238E27FC236}">
                <a16:creationId xmlns:a16="http://schemas.microsoft.com/office/drawing/2014/main" id="{97641247-0BF2-09C5-8199-6CB53A1F8C05}"/>
              </a:ext>
            </a:extLst>
          </p:cNvPr>
          <p:cNvSpPr>
            <a:spLocks noGrp="1"/>
          </p:cNvSpPr>
          <p:nvPr>
            <p:ph idx="1"/>
          </p:nvPr>
        </p:nvSpPr>
        <p:spPr>
          <a:xfrm>
            <a:off x="2400298" y="1012275"/>
            <a:ext cx="6398759" cy="4504741"/>
          </a:xfrm>
        </p:spPr>
        <p:txBody>
          <a:bodyPr>
            <a:normAutofit fontScale="92500" lnSpcReduction="10000"/>
          </a:bodyPr>
          <a:lstStyle/>
          <a:p>
            <a:r>
              <a:rPr lang="en-US" sz="2000" dirty="0" err="1"/>
              <a:t>Explique</a:t>
            </a:r>
            <a:r>
              <a:rPr lang="en-US" sz="2000" dirty="0"/>
              <a:t> </a:t>
            </a:r>
            <a:r>
              <a:rPr lang="en-US" sz="2000" dirty="0" err="1"/>
              <a:t>l’intelligence</a:t>
            </a:r>
            <a:r>
              <a:rPr lang="en-US" sz="2000" dirty="0"/>
              <a:t> </a:t>
            </a:r>
            <a:r>
              <a:rPr lang="en-US" sz="2000" dirty="0" err="1"/>
              <a:t>artificielle</a:t>
            </a:r>
            <a:r>
              <a:rPr lang="en-US" sz="2000" dirty="0"/>
              <a:t> à un enfant de 8 </a:t>
            </a:r>
            <a:r>
              <a:rPr lang="en-US" sz="2000" dirty="0" err="1"/>
              <a:t>ans</a:t>
            </a:r>
            <a:endParaRPr lang="en-US" sz="2000" dirty="0"/>
          </a:p>
          <a:p>
            <a:pPr marL="0" indent="0">
              <a:buNone/>
            </a:pPr>
            <a:endParaRPr lang="en-US" sz="2000" dirty="0"/>
          </a:p>
          <a:p>
            <a:r>
              <a:rPr lang="en-US" sz="2000" dirty="0"/>
              <a:t>Le prompt </a:t>
            </a:r>
            <a:r>
              <a:rPr lang="en-US" sz="2000" dirty="0" err="1"/>
              <a:t>optimisé</a:t>
            </a:r>
            <a:r>
              <a:rPr lang="en-US" sz="2000" dirty="0"/>
              <a:t>:</a:t>
            </a:r>
          </a:p>
          <a:p>
            <a:pPr>
              <a:buClr>
                <a:schemeClr val="accent2"/>
              </a:buClr>
              <a:buFont typeface="Wingdings" panose="05000000000000000000" pitchFamily="2" charset="2"/>
              <a:buChar char="§"/>
            </a:pPr>
            <a:r>
              <a:rPr lang="fr-FR" sz="1600" dirty="0"/>
              <a:t>Explique ce qu’est </a:t>
            </a:r>
            <a:r>
              <a:rPr lang="fr-FR" sz="1600" b="1" dirty="0"/>
              <a:t>l’intelligence artificielle</a:t>
            </a:r>
            <a:r>
              <a:rPr lang="fr-FR" sz="1600" dirty="0"/>
              <a:t> à un </a:t>
            </a:r>
            <a:r>
              <a:rPr lang="fr-FR" sz="1600" b="1" dirty="0"/>
              <a:t>enfant de 8 ans</a:t>
            </a:r>
            <a:r>
              <a:rPr lang="fr-FR" sz="1600" dirty="0"/>
              <a:t>.</a:t>
            </a:r>
          </a:p>
          <a:p>
            <a:pPr>
              <a:buClr>
                <a:schemeClr val="accent2"/>
              </a:buClr>
              <a:buFont typeface="Wingdings" panose="05000000000000000000" pitchFamily="2" charset="2"/>
              <a:buChar char="§"/>
            </a:pPr>
            <a:r>
              <a:rPr lang="fr-FR" sz="1600" dirty="0"/>
              <a:t>⚙️ </a:t>
            </a:r>
            <a:r>
              <a:rPr lang="fr-FR" sz="1600" b="1" dirty="0"/>
              <a:t>Contraintes de ton et de style :</a:t>
            </a:r>
            <a:endParaRPr lang="fr-FR" sz="1600" dirty="0"/>
          </a:p>
          <a:p>
            <a:pPr>
              <a:buClr>
                <a:schemeClr val="accent2"/>
              </a:buClr>
              <a:buFont typeface="Wingdings" panose="05000000000000000000" pitchFamily="2" charset="2"/>
              <a:buChar char="§"/>
            </a:pPr>
            <a:r>
              <a:rPr lang="fr-FR" sz="1600" dirty="0"/>
              <a:t>Utilise </a:t>
            </a:r>
            <a:r>
              <a:rPr lang="fr-FR" sz="1600" b="1" dirty="0"/>
              <a:t>des mots simples</a:t>
            </a:r>
            <a:r>
              <a:rPr lang="fr-FR" sz="1600" dirty="0"/>
              <a:t>, sans jargon technique.</a:t>
            </a:r>
          </a:p>
          <a:p>
            <a:pPr>
              <a:buClr>
                <a:schemeClr val="accent2"/>
              </a:buClr>
              <a:buFont typeface="Wingdings" panose="05000000000000000000" pitchFamily="2" charset="2"/>
              <a:buChar char="§"/>
            </a:pPr>
            <a:r>
              <a:rPr lang="fr-FR" sz="1600" dirty="0"/>
              <a:t>Sois </a:t>
            </a:r>
            <a:r>
              <a:rPr lang="fr-FR" sz="1600" b="1" dirty="0"/>
              <a:t>pédagogique et bienveillant</a:t>
            </a:r>
            <a:r>
              <a:rPr lang="fr-FR" sz="1600" dirty="0"/>
              <a:t>, comme un </a:t>
            </a:r>
            <a:r>
              <a:rPr lang="fr-FR" sz="1600" b="1" dirty="0"/>
              <a:t>professeur qui raconte une histoire</a:t>
            </a:r>
            <a:r>
              <a:rPr lang="fr-FR" sz="1600" dirty="0"/>
              <a:t>.</a:t>
            </a:r>
          </a:p>
          <a:p>
            <a:pPr>
              <a:buClr>
                <a:schemeClr val="accent2"/>
              </a:buClr>
              <a:buFont typeface="Wingdings" panose="05000000000000000000" pitchFamily="2" charset="2"/>
              <a:buChar char="§"/>
            </a:pPr>
            <a:r>
              <a:rPr lang="fr-FR" sz="1600" dirty="0"/>
              <a:t>Intègre </a:t>
            </a:r>
            <a:r>
              <a:rPr lang="fr-FR" sz="1600" b="1" dirty="0"/>
              <a:t>des exemples du quotidien</a:t>
            </a:r>
            <a:r>
              <a:rPr lang="fr-FR" sz="1600" dirty="0"/>
              <a:t> (jeux, dessins animés, objets intelligents…).</a:t>
            </a:r>
          </a:p>
          <a:p>
            <a:pPr>
              <a:buClr>
                <a:schemeClr val="accent2"/>
              </a:buClr>
              <a:buFont typeface="Wingdings" panose="05000000000000000000" pitchFamily="2" charset="2"/>
              <a:buChar char="§"/>
            </a:pPr>
            <a:r>
              <a:rPr lang="fr-FR" sz="1600" dirty="0"/>
              <a:t>Utilise une </a:t>
            </a:r>
            <a:r>
              <a:rPr lang="fr-FR" sz="1600" b="1" dirty="0"/>
              <a:t>métaphore principale</a:t>
            </a:r>
            <a:r>
              <a:rPr lang="fr-FR" sz="1600" dirty="0"/>
              <a:t> (par exemple : un cerveau de robot, un élève qui apprend, un assistant magique…).</a:t>
            </a:r>
          </a:p>
          <a:p>
            <a:pPr>
              <a:buClr>
                <a:schemeClr val="accent2"/>
              </a:buClr>
              <a:buFont typeface="Wingdings" panose="05000000000000000000" pitchFamily="2" charset="2"/>
              <a:buChar char="§"/>
            </a:pPr>
            <a:r>
              <a:rPr lang="fr-FR" sz="1600" dirty="0"/>
              <a:t>Structure la réponse en </a:t>
            </a:r>
            <a:r>
              <a:rPr lang="fr-FR" sz="1600" b="1" dirty="0"/>
              <a:t>petites sections avec des emojis</a:t>
            </a:r>
            <a:r>
              <a:rPr lang="fr-FR" sz="1600" dirty="0"/>
              <a:t> pour rendre la lecture ludique.</a:t>
            </a:r>
          </a:p>
          <a:p>
            <a:pPr>
              <a:buClr>
                <a:schemeClr val="accent2"/>
              </a:buClr>
              <a:buFont typeface="Wingdings" panose="05000000000000000000" pitchFamily="2" charset="2"/>
              <a:buChar char="§"/>
            </a:pPr>
            <a:r>
              <a:rPr lang="fr-FR" sz="1600" dirty="0"/>
              <a:t>Termine par une </a:t>
            </a:r>
            <a:r>
              <a:rPr lang="fr-FR" sz="1600" b="1" dirty="0"/>
              <a:t>phrase de conclusion positive</a:t>
            </a:r>
            <a:r>
              <a:rPr lang="fr-FR" sz="1600" dirty="0"/>
              <a:t> qui donne envie d’en savoir plus.</a:t>
            </a:r>
          </a:p>
          <a:p>
            <a:pPr>
              <a:buClr>
                <a:schemeClr val="accent2"/>
              </a:buClr>
              <a:buFont typeface="Wingdings" panose="05000000000000000000" pitchFamily="2" charset="2"/>
              <a:buChar char="§"/>
            </a:pPr>
            <a:r>
              <a:rPr lang="fr-FR" sz="1600" dirty="0"/>
              <a:t>👶 </a:t>
            </a:r>
            <a:r>
              <a:rPr lang="fr-FR" sz="1600" b="1" dirty="0"/>
              <a:t>Objectif :</a:t>
            </a:r>
            <a:r>
              <a:rPr lang="fr-FR" sz="1600" dirty="0"/>
              <a:t> que l’enfant </a:t>
            </a:r>
            <a:r>
              <a:rPr lang="fr-FR" sz="1600" b="1" dirty="0"/>
              <a:t>comprenne ce qu’est l’IA</a:t>
            </a:r>
            <a:r>
              <a:rPr lang="fr-FR" sz="1600" dirty="0"/>
              <a:t>, </a:t>
            </a:r>
            <a:r>
              <a:rPr lang="fr-FR" sz="1600" b="1" dirty="0"/>
              <a:t>ce qu’elle sait faire</a:t>
            </a:r>
            <a:r>
              <a:rPr lang="fr-FR" sz="1600" dirty="0"/>
              <a:t> et </a:t>
            </a:r>
            <a:r>
              <a:rPr lang="fr-FR" sz="1600" b="1" dirty="0"/>
              <a:t>ce qu’elle ne sait pas faire</a:t>
            </a:r>
            <a:r>
              <a:rPr lang="fr-FR" sz="1600" dirty="0"/>
              <a:t>, tout en </a:t>
            </a:r>
            <a:r>
              <a:rPr lang="fr-FR" sz="1600" b="1" dirty="0"/>
              <a:t>s’amusant à lire</a:t>
            </a:r>
            <a:r>
              <a:rPr lang="fr-FR" sz="1600" dirty="0"/>
              <a:t>.</a:t>
            </a:r>
          </a:p>
          <a:p>
            <a:endParaRPr lang="en-US" sz="4400" dirty="0"/>
          </a:p>
        </p:txBody>
      </p:sp>
    </p:spTree>
    <p:extLst>
      <p:ext uri="{BB962C8B-B14F-4D97-AF65-F5344CB8AC3E}">
        <p14:creationId xmlns:p14="http://schemas.microsoft.com/office/powerpoint/2010/main" val="2921549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CCC01-B096-1993-B987-57E32642856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906BF41E-BD7D-6DE2-0BE5-84A531030062}"/>
              </a:ext>
            </a:extLst>
          </p:cNvPr>
          <p:cNvSpPr>
            <a:spLocks noGrp="1"/>
          </p:cNvSpPr>
          <p:nvPr>
            <p:ph type="title"/>
          </p:nvPr>
        </p:nvSpPr>
        <p:spPr>
          <a:xfrm>
            <a:off x="102055" y="1012276"/>
            <a:ext cx="2071688" cy="4833449"/>
          </a:xfrm>
        </p:spPr>
        <p:txBody>
          <a:bodyPr/>
          <a:lstStyle/>
          <a:p>
            <a:pPr algn="ctr"/>
            <a:r>
              <a:rPr lang="en-US"/>
              <a:t>Le résumé</a:t>
            </a:r>
          </a:p>
        </p:txBody>
      </p:sp>
      <p:sp>
        <p:nvSpPr>
          <p:cNvPr id="11" name="Content Placeholder 2">
            <a:extLst>
              <a:ext uri="{FF2B5EF4-FFF2-40B4-BE49-F238E27FC236}">
                <a16:creationId xmlns:a16="http://schemas.microsoft.com/office/drawing/2014/main" id="{2FCBB3E9-E675-B955-2079-9DDBD8CF40D4}"/>
              </a:ext>
            </a:extLst>
          </p:cNvPr>
          <p:cNvSpPr>
            <a:spLocks noGrp="1"/>
          </p:cNvSpPr>
          <p:nvPr>
            <p:ph idx="1"/>
          </p:nvPr>
        </p:nvSpPr>
        <p:spPr>
          <a:xfrm>
            <a:off x="2390505" y="1012275"/>
            <a:ext cx="6398759" cy="4504741"/>
          </a:xfrm>
        </p:spPr>
        <p:txBody>
          <a:bodyPr>
            <a:normAutofit lnSpcReduction="10000"/>
          </a:bodyPr>
          <a:lstStyle/>
          <a:p>
            <a:r>
              <a:rPr lang="en-US" dirty="0" err="1"/>
              <a:t>Trouvons</a:t>
            </a:r>
            <a:r>
              <a:rPr lang="en-US" dirty="0"/>
              <a:t> un article et </a:t>
            </a:r>
            <a:r>
              <a:rPr lang="en-US" dirty="0" err="1"/>
              <a:t>résumons</a:t>
            </a:r>
            <a:r>
              <a:rPr lang="en-US" dirty="0"/>
              <a:t>-le.</a:t>
            </a:r>
          </a:p>
          <a:p>
            <a:endParaRPr lang="en-US" dirty="0"/>
          </a:p>
          <a:p>
            <a:r>
              <a:rPr lang="en-US" dirty="0"/>
              <a:t>Le prompt </a:t>
            </a:r>
            <a:r>
              <a:rPr lang="en-US" dirty="0" err="1"/>
              <a:t>optimisé</a:t>
            </a:r>
            <a:r>
              <a:rPr lang="en-US" dirty="0"/>
              <a:t>:</a:t>
            </a:r>
          </a:p>
          <a:p>
            <a:pPr>
              <a:buClr>
                <a:schemeClr val="accent2"/>
              </a:buClr>
              <a:buFont typeface="Wingdings" panose="05000000000000000000" pitchFamily="2" charset="2"/>
              <a:buChar char="§"/>
            </a:pPr>
            <a:r>
              <a:rPr lang="fr-FR" sz="1125" dirty="0"/>
              <a:t>Résume cet article de manière claire et structurée.</a:t>
            </a:r>
          </a:p>
          <a:p>
            <a:pPr>
              <a:buClr>
                <a:schemeClr val="accent2"/>
              </a:buClr>
              <a:buFont typeface="Wingdings" panose="05000000000000000000" pitchFamily="2" charset="2"/>
              <a:buChar char="§"/>
            </a:pPr>
            <a:r>
              <a:rPr lang="fr-FR" sz="1125" dirty="0"/>
              <a:t>🎯 </a:t>
            </a:r>
            <a:r>
              <a:rPr lang="fr-FR" sz="1125" b="1" dirty="0"/>
              <a:t>Objectif :</a:t>
            </a:r>
            <a:r>
              <a:rPr lang="fr-FR" sz="1125" dirty="0"/>
              <a:t> comprendre les </a:t>
            </a:r>
            <a:r>
              <a:rPr lang="fr-FR" sz="1125" b="1" dirty="0"/>
              <a:t>idées essentielles</a:t>
            </a:r>
            <a:r>
              <a:rPr lang="fr-FR" sz="1125" dirty="0"/>
              <a:t>, les </a:t>
            </a:r>
            <a:r>
              <a:rPr lang="fr-FR" sz="1125" b="1" dirty="0"/>
              <a:t>arguments principaux</a:t>
            </a:r>
            <a:r>
              <a:rPr lang="fr-FR" sz="1125" dirty="0"/>
              <a:t> et la </a:t>
            </a:r>
            <a:r>
              <a:rPr lang="fr-FR" sz="1125" b="1" dirty="0"/>
              <a:t>conclusion</a:t>
            </a:r>
            <a:r>
              <a:rPr lang="fr-FR" sz="1125" dirty="0"/>
              <a:t>.</a:t>
            </a:r>
          </a:p>
          <a:p>
            <a:pPr>
              <a:buClr>
                <a:schemeClr val="accent2"/>
              </a:buClr>
              <a:buFont typeface="Wingdings" panose="05000000000000000000" pitchFamily="2" charset="2"/>
              <a:buChar char="§"/>
            </a:pPr>
            <a:r>
              <a:rPr lang="fr-FR" sz="1125" dirty="0"/>
              <a:t>⚙️ </a:t>
            </a:r>
            <a:r>
              <a:rPr lang="fr-FR" sz="1125" b="1" dirty="0"/>
              <a:t>Contraintes :</a:t>
            </a:r>
            <a:endParaRPr lang="fr-FR" sz="1125" dirty="0"/>
          </a:p>
          <a:p>
            <a:pPr>
              <a:buClr>
                <a:schemeClr val="accent2"/>
              </a:buClr>
              <a:buFont typeface="Wingdings" panose="05000000000000000000" pitchFamily="2" charset="2"/>
              <a:buChar char="§"/>
            </a:pPr>
            <a:r>
              <a:rPr lang="fr-FR" sz="1125" dirty="0"/>
              <a:t>Donne un </a:t>
            </a:r>
            <a:r>
              <a:rPr lang="fr-FR" sz="1125" b="1" dirty="0"/>
              <a:t>résumé synthétique</a:t>
            </a:r>
            <a:r>
              <a:rPr lang="fr-FR" sz="1125" dirty="0"/>
              <a:t> (environ X mots / X paragraphes selon la longueur).</a:t>
            </a:r>
          </a:p>
          <a:p>
            <a:pPr>
              <a:buClr>
                <a:schemeClr val="accent2"/>
              </a:buClr>
              <a:buFont typeface="Wingdings" panose="05000000000000000000" pitchFamily="2" charset="2"/>
              <a:buChar char="§"/>
            </a:pPr>
            <a:r>
              <a:rPr lang="fr-FR" sz="1125" dirty="0"/>
              <a:t>Distingue clairement les </a:t>
            </a:r>
            <a:r>
              <a:rPr lang="fr-FR" sz="1125" b="1" dirty="0"/>
              <a:t>faits</a:t>
            </a:r>
            <a:r>
              <a:rPr lang="fr-FR" sz="1125" dirty="0"/>
              <a:t>, les </a:t>
            </a:r>
            <a:r>
              <a:rPr lang="fr-FR" sz="1125" b="1" dirty="0"/>
              <a:t>idées clés</a:t>
            </a:r>
            <a:r>
              <a:rPr lang="fr-FR" sz="1125" dirty="0"/>
              <a:t> et les </a:t>
            </a:r>
            <a:r>
              <a:rPr lang="fr-FR" sz="1125" b="1" dirty="0"/>
              <a:t>opinions de l’auteur</a:t>
            </a:r>
            <a:r>
              <a:rPr lang="fr-FR" sz="1125" dirty="0"/>
              <a:t>.</a:t>
            </a:r>
          </a:p>
          <a:p>
            <a:pPr>
              <a:buClr>
                <a:schemeClr val="accent2"/>
              </a:buClr>
              <a:buFont typeface="Wingdings" panose="05000000000000000000" pitchFamily="2" charset="2"/>
              <a:buChar char="§"/>
            </a:pPr>
            <a:r>
              <a:rPr lang="fr-FR" sz="1125" dirty="0"/>
              <a:t>Utilise un </a:t>
            </a:r>
            <a:r>
              <a:rPr lang="fr-FR" sz="1125" b="1" dirty="0"/>
              <a:t>ton neutre et clair</a:t>
            </a:r>
            <a:r>
              <a:rPr lang="fr-FR" sz="1125" dirty="0"/>
              <a:t> (pas d’interprétation).</a:t>
            </a:r>
          </a:p>
          <a:p>
            <a:pPr>
              <a:buClr>
                <a:schemeClr val="accent2"/>
              </a:buClr>
              <a:buFont typeface="Wingdings" panose="05000000000000000000" pitchFamily="2" charset="2"/>
              <a:buChar char="§"/>
            </a:pPr>
            <a:r>
              <a:rPr lang="fr-FR" sz="1125" dirty="0"/>
              <a:t>Si possible, ajoute une </a:t>
            </a:r>
            <a:r>
              <a:rPr lang="fr-FR" sz="1125" b="1" dirty="0"/>
              <a:t>phrase de mise en perspective</a:t>
            </a:r>
            <a:r>
              <a:rPr lang="fr-FR" sz="1125" dirty="0"/>
              <a:t> (“ce que cela signifie / pourquoi c’est important”).</a:t>
            </a:r>
          </a:p>
          <a:p>
            <a:pPr>
              <a:buClr>
                <a:schemeClr val="accent2"/>
              </a:buClr>
              <a:buFont typeface="Wingdings" panose="05000000000000000000" pitchFamily="2" charset="2"/>
              <a:buChar char="§"/>
            </a:pPr>
            <a:r>
              <a:rPr lang="fr-FR" sz="1125" dirty="0"/>
              <a:t>[Optionnel] Propose aussi un </a:t>
            </a:r>
            <a:r>
              <a:rPr lang="fr-FR" sz="1125" b="1" dirty="0"/>
              <a:t>résumé ultra-court en 3 </a:t>
            </a:r>
            <a:r>
              <a:rPr lang="fr-FR" sz="1125" b="1" dirty="0" err="1"/>
              <a:t>bullet</a:t>
            </a:r>
            <a:r>
              <a:rPr lang="fr-FR" sz="1125" b="1" dirty="0"/>
              <a:t> points</a:t>
            </a:r>
            <a:r>
              <a:rPr lang="fr-FR" sz="1125" dirty="0"/>
              <a:t> à la fin.</a:t>
            </a:r>
          </a:p>
          <a:p>
            <a:pPr>
              <a:buClr>
                <a:schemeClr val="accent2"/>
              </a:buClr>
              <a:buFont typeface="Wingdings" panose="05000000000000000000" pitchFamily="2" charset="2"/>
              <a:buChar char="§"/>
            </a:pPr>
            <a:r>
              <a:rPr lang="fr-FR" sz="1125" dirty="0"/>
              <a:t>📄 </a:t>
            </a:r>
            <a:r>
              <a:rPr lang="fr-FR" sz="1125" b="1" dirty="0"/>
              <a:t>Texte / lien à résumer :</a:t>
            </a:r>
            <a:br>
              <a:rPr lang="fr-FR" sz="1125" dirty="0"/>
            </a:br>
            <a:r>
              <a:rPr lang="fr-FR" sz="1125" i="1" dirty="0"/>
              <a:t>(colle ici ton texte ou ton lien)</a:t>
            </a:r>
            <a:endParaRPr lang="en-US" dirty="0"/>
          </a:p>
          <a:p>
            <a:pPr marL="0" indent="0">
              <a:buClr>
                <a:schemeClr val="accent2"/>
              </a:buClr>
              <a:buNone/>
            </a:pPr>
            <a:r>
              <a:rPr lang="en-US" dirty="0"/>
              <a:t>Et </a:t>
            </a:r>
            <a:r>
              <a:rPr lang="en-US" dirty="0" err="1"/>
              <a:t>si</a:t>
            </a:r>
            <a:r>
              <a:rPr lang="en-US" dirty="0"/>
              <a:t> on </a:t>
            </a:r>
            <a:r>
              <a:rPr lang="en-US" dirty="0" err="1"/>
              <a:t>rajoutait</a:t>
            </a:r>
            <a:r>
              <a:rPr lang="en-US" dirty="0"/>
              <a:t>:</a:t>
            </a:r>
            <a:r>
              <a:rPr lang="fr-FR" sz="1350" dirty="0"/>
              <a:t>pour un public professionnel. Mets en avant les </a:t>
            </a:r>
            <a:r>
              <a:rPr lang="fr-FR" sz="1350" b="1" dirty="0"/>
              <a:t>enseignements concrets</a:t>
            </a:r>
            <a:r>
              <a:rPr lang="fr-FR" sz="1350" dirty="0"/>
              <a:t>, </a:t>
            </a:r>
            <a:r>
              <a:rPr lang="fr-FR" sz="1350" b="1" dirty="0"/>
              <a:t>exemples marquants</a:t>
            </a:r>
            <a:r>
              <a:rPr lang="fr-FR" sz="1350" dirty="0"/>
              <a:t>, et </a:t>
            </a:r>
            <a:r>
              <a:rPr lang="fr-FR" sz="1350" b="1" dirty="0"/>
              <a:t>implications pratiques</a:t>
            </a:r>
            <a:endParaRPr lang="en-US" sz="1350" dirty="0"/>
          </a:p>
        </p:txBody>
      </p:sp>
    </p:spTree>
    <p:extLst>
      <p:ext uri="{BB962C8B-B14F-4D97-AF65-F5344CB8AC3E}">
        <p14:creationId xmlns:p14="http://schemas.microsoft.com/office/powerpoint/2010/main" val="3968475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53662F-ECBE-A734-80D4-31E51E4A2E01}"/>
              </a:ext>
            </a:extLst>
          </p:cNvPr>
          <p:cNvSpPr>
            <a:spLocks noGrp="1"/>
          </p:cNvSpPr>
          <p:nvPr>
            <p:ph type="title"/>
          </p:nvPr>
        </p:nvSpPr>
        <p:spPr>
          <a:xfrm>
            <a:off x="628650" y="922375"/>
            <a:ext cx="7886700" cy="994172"/>
          </a:xfrm>
        </p:spPr>
        <p:txBody>
          <a:bodyPr anchor="ctr">
            <a:normAutofit/>
          </a:bodyPr>
          <a:lstStyle/>
          <a:p>
            <a:r>
              <a:rPr lang="fr-FR"/>
              <a:t>Testez chez vous</a:t>
            </a:r>
          </a:p>
        </p:txBody>
      </p:sp>
      <p:graphicFrame>
        <p:nvGraphicFramePr>
          <p:cNvPr id="5" name="Espace réservé du contenu 2">
            <a:extLst>
              <a:ext uri="{FF2B5EF4-FFF2-40B4-BE49-F238E27FC236}">
                <a16:creationId xmlns:a16="http://schemas.microsoft.com/office/drawing/2014/main" id="{D440EDC3-CC2A-4023-284B-FD1BB25B48E2}"/>
              </a:ext>
            </a:extLst>
          </p:cNvPr>
          <p:cNvGraphicFramePr>
            <a:graphicFrameLocks noGrp="1"/>
          </p:cNvGraphicFramePr>
          <p:nvPr>
            <p:ph idx="1"/>
          </p:nvPr>
        </p:nvGraphicFramePr>
        <p:xfrm>
          <a:off x="628650" y="1978384"/>
          <a:ext cx="7886700" cy="3511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4192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4B878-60E6-791D-8B70-B18B3CF04C7D}"/>
              </a:ext>
            </a:extLst>
          </p:cNvPr>
          <p:cNvSpPr>
            <a:spLocks noGrp="1"/>
          </p:cNvSpPr>
          <p:nvPr>
            <p:ph type="title"/>
          </p:nvPr>
        </p:nvSpPr>
        <p:spPr>
          <a:xfrm>
            <a:off x="623888" y="2139554"/>
            <a:ext cx="7886700" cy="2139553"/>
          </a:xfrm>
        </p:spPr>
        <p:txBody>
          <a:bodyPr anchor="ctr">
            <a:normAutofit/>
          </a:bodyPr>
          <a:lstStyle/>
          <a:p>
            <a:r>
              <a:rPr lang="fr-FR"/>
              <a:t>Avez-vous </a:t>
            </a:r>
            <a:r>
              <a:rPr lang="fr-FR" dirty="0"/>
              <a:t>trouvé des différences?</a:t>
            </a:r>
          </a:p>
        </p:txBody>
      </p:sp>
      <p:sp>
        <p:nvSpPr>
          <p:cNvPr id="7" name="Text Placeholder 2">
            <a:extLst>
              <a:ext uri="{FF2B5EF4-FFF2-40B4-BE49-F238E27FC236}">
                <a16:creationId xmlns:a16="http://schemas.microsoft.com/office/drawing/2014/main" id="{EF9903A6-C81B-E8FF-830F-531173100BDF}"/>
              </a:ext>
            </a:extLst>
          </p:cNvPr>
          <p:cNvSpPr>
            <a:spLocks noGrp="1"/>
          </p:cNvSpPr>
          <p:nvPr>
            <p:ph type="body" idx="1"/>
          </p:nvPr>
        </p:nvSpPr>
        <p:spPr>
          <a:xfrm>
            <a:off x="623888" y="4299348"/>
            <a:ext cx="7886700" cy="1125140"/>
          </a:xfrm>
        </p:spPr>
        <p:txBody>
          <a:bodyPr/>
          <a:lstStyle/>
          <a:p>
            <a:r>
              <a:rPr lang="en-US" dirty="0"/>
              <a:t>Ton, </a:t>
            </a:r>
            <a:r>
              <a:rPr lang="en-US" dirty="0" err="1"/>
              <a:t>détails</a:t>
            </a:r>
            <a:r>
              <a:rPr lang="en-US"/>
              <a:t>, citation de source, </a:t>
            </a:r>
            <a:r>
              <a:rPr lang="en-US" err="1"/>
              <a:t>moralisant</a:t>
            </a:r>
            <a:r>
              <a:rPr lang="en-US"/>
              <a:t>, prudent…..</a:t>
            </a:r>
          </a:p>
        </p:txBody>
      </p:sp>
      <p:sp>
        <p:nvSpPr>
          <p:cNvPr id="9" name="Text Placeholder 3">
            <a:extLst>
              <a:ext uri="{FF2B5EF4-FFF2-40B4-BE49-F238E27FC236}">
                <a16:creationId xmlns:a16="http://schemas.microsoft.com/office/drawing/2014/main" id="{AE535914-62BD-2960-C7A6-2A2487B08EA7}"/>
              </a:ext>
            </a:extLst>
          </p:cNvPr>
          <p:cNvSpPr>
            <a:spLocks noGrp="1"/>
          </p:cNvSpPr>
          <p:nvPr>
            <p:ph type="body" sz="quarter" idx="13"/>
          </p:nvPr>
        </p:nvSpPr>
        <p:spPr>
          <a:xfrm>
            <a:off x="623888" y="1814513"/>
            <a:ext cx="1970485" cy="325041"/>
          </a:xfrm>
        </p:spPr>
        <p:txBody>
          <a:bodyPr>
            <a:normAutofit fontScale="62500" lnSpcReduction="20000"/>
          </a:bodyPr>
          <a:lstStyle/>
          <a:p>
            <a:r>
              <a:rPr lang="en-US" dirty="0"/>
              <a:t>DEBAT</a:t>
            </a:r>
          </a:p>
        </p:txBody>
      </p:sp>
    </p:spTree>
    <p:extLst>
      <p:ext uri="{BB962C8B-B14F-4D97-AF65-F5344CB8AC3E}">
        <p14:creationId xmlns:p14="http://schemas.microsoft.com/office/powerpoint/2010/main" val="2484363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5C99DD-EF6F-C02B-C5BA-43DBBCA4E726}"/>
              </a:ext>
            </a:extLst>
          </p:cNvPr>
          <p:cNvSpPr>
            <a:spLocks noGrp="1"/>
          </p:cNvSpPr>
          <p:nvPr>
            <p:ph type="title"/>
          </p:nvPr>
        </p:nvSpPr>
        <p:spPr>
          <a:xfrm>
            <a:off x="628650" y="922375"/>
            <a:ext cx="7886700" cy="994172"/>
          </a:xfrm>
        </p:spPr>
        <p:txBody>
          <a:bodyPr anchor="ctr">
            <a:normAutofit/>
          </a:bodyPr>
          <a:lstStyle/>
          <a:p>
            <a:r>
              <a:rPr lang="fr-FR" dirty="0"/>
              <a:t>En 2026, où ils en sont ?</a:t>
            </a:r>
          </a:p>
        </p:txBody>
      </p:sp>
      <p:graphicFrame>
        <p:nvGraphicFramePr>
          <p:cNvPr id="5" name="Espace réservé du contenu 4">
            <a:extLst>
              <a:ext uri="{FF2B5EF4-FFF2-40B4-BE49-F238E27FC236}">
                <a16:creationId xmlns:a16="http://schemas.microsoft.com/office/drawing/2014/main" id="{218B9CF2-CC4F-4D1E-96AB-956802F4D3FB}"/>
              </a:ext>
            </a:extLst>
          </p:cNvPr>
          <p:cNvGraphicFramePr>
            <a:graphicFrameLocks noGrp="1"/>
          </p:cNvGraphicFramePr>
          <p:nvPr>
            <p:ph idx="1"/>
          </p:nvPr>
        </p:nvGraphicFramePr>
        <p:xfrm>
          <a:off x="806970" y="1978384"/>
          <a:ext cx="7530062" cy="3871863"/>
        </p:xfrm>
        <a:graphic>
          <a:graphicData uri="http://schemas.openxmlformats.org/drawingml/2006/table">
            <a:tbl>
              <a:tblPr firstRow="1" firstCol="1" bandRow="1">
                <a:noFill/>
                <a:tableStyleId>{5C22544A-7EE6-4342-B048-85BDC9FD1C3A}</a:tableStyleId>
              </a:tblPr>
              <a:tblGrid>
                <a:gridCol w="2463897">
                  <a:extLst>
                    <a:ext uri="{9D8B030D-6E8A-4147-A177-3AD203B41FA5}">
                      <a16:colId xmlns:a16="http://schemas.microsoft.com/office/drawing/2014/main" val="3023980057"/>
                    </a:ext>
                  </a:extLst>
                </a:gridCol>
                <a:gridCol w="2537546">
                  <a:extLst>
                    <a:ext uri="{9D8B030D-6E8A-4147-A177-3AD203B41FA5}">
                      <a16:colId xmlns:a16="http://schemas.microsoft.com/office/drawing/2014/main" val="2383847189"/>
                    </a:ext>
                  </a:extLst>
                </a:gridCol>
                <a:gridCol w="2528619">
                  <a:extLst>
                    <a:ext uri="{9D8B030D-6E8A-4147-A177-3AD203B41FA5}">
                      <a16:colId xmlns:a16="http://schemas.microsoft.com/office/drawing/2014/main" val="2596016097"/>
                    </a:ext>
                  </a:extLst>
                </a:gridCol>
              </a:tblGrid>
              <a:tr h="535727">
                <a:tc>
                  <a:txBody>
                    <a:bodyPr/>
                    <a:lstStyle/>
                    <a:p>
                      <a:pPr marL="457200">
                        <a:buNone/>
                      </a:pPr>
                      <a:r>
                        <a:rPr lang="fr-FR" sz="1100" b="1" cap="all" spc="150">
                          <a:solidFill>
                            <a:srgbClr val="A7A7A7"/>
                          </a:solidFill>
                          <a:effectLst/>
                        </a:rPr>
                        <a:t>Chatbot</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marL="457200">
                        <a:buNone/>
                      </a:pPr>
                      <a:r>
                        <a:rPr lang="fr-FR" sz="1100" b="1" cap="all" spc="150">
                          <a:solidFill>
                            <a:srgbClr val="A7A7A7"/>
                          </a:solidFill>
                          <a:effectLst/>
                        </a:rPr>
                        <a:t>Points forts ✅</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marL="457200">
                        <a:buNone/>
                      </a:pPr>
                      <a:r>
                        <a:rPr lang="fr-FR" sz="1100" b="1" cap="all" spc="150">
                          <a:solidFill>
                            <a:srgbClr val="A7A7A7"/>
                          </a:solidFill>
                          <a:effectLst/>
                        </a:rPr>
                        <a:t>Limites courantes ⚠️</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775541035"/>
                  </a:ext>
                </a:extLst>
              </a:tr>
              <a:tr h="497065">
                <a:tc>
                  <a:txBody>
                    <a:bodyPr/>
                    <a:lstStyle/>
                    <a:p>
                      <a:pPr marL="457200">
                        <a:buNone/>
                      </a:pPr>
                      <a:r>
                        <a:rPr lang="fr-FR" sz="900" b="1" cap="none" spc="0">
                          <a:solidFill>
                            <a:schemeClr val="tx1"/>
                          </a:solidFill>
                          <a:effectLst/>
                        </a:rPr>
                        <a:t>ChatGPT (OpenAI)</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Réponses bien rédigées, nuancées, bon équilibre fond/forme</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Peut halluciner, tendance à généraliser, pas toujours à jour</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499634908"/>
                  </a:ext>
                </a:extLst>
              </a:tr>
              <a:tr h="497065">
                <a:tc>
                  <a:txBody>
                    <a:bodyPr/>
                    <a:lstStyle/>
                    <a:p>
                      <a:pPr marL="457200">
                        <a:buNone/>
                      </a:pPr>
                      <a:r>
                        <a:rPr lang="fr-FR" sz="900" b="1" cap="none" spc="0">
                          <a:solidFill>
                            <a:schemeClr val="tx1"/>
                          </a:solidFill>
                          <a:effectLst/>
                        </a:rPr>
                        <a:t>Copilot (Microsoft)</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Très structuré, utile pour les usages pro (résumés, tableaux, code)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Ton froid, moins adapté aux demandes créatives ou humoristiques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98330112"/>
                  </a:ext>
                </a:extLst>
              </a:tr>
              <a:tr h="497065">
                <a:tc>
                  <a:txBody>
                    <a:bodyPr/>
                    <a:lstStyle/>
                    <a:p>
                      <a:pPr marL="457200">
                        <a:buNone/>
                      </a:pPr>
                      <a:r>
                        <a:rPr lang="fr-FR" sz="900" b="1" cap="none" spc="0">
                          <a:solidFill>
                            <a:schemeClr val="tx1"/>
                          </a:solidFill>
                          <a:effectLst/>
                        </a:rPr>
                        <a:t>Gemini (Google)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Réactif, ton plus conversationnel, bonne créativité</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Tendance à simplifier à l’extrême, parfois imprécis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47176028"/>
                  </a:ext>
                </a:extLst>
              </a:tr>
              <a:tr h="497065">
                <a:tc>
                  <a:txBody>
                    <a:bodyPr/>
                    <a:lstStyle/>
                    <a:p>
                      <a:pPr marL="457200">
                        <a:buNone/>
                      </a:pPr>
                      <a:r>
                        <a:rPr lang="fr-FR" sz="900" b="1" cap="none" spc="0">
                          <a:solidFill>
                            <a:schemeClr val="tx1"/>
                          </a:solidFill>
                          <a:effectLst/>
                        </a:rPr>
                        <a:t>Perplexity</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Ultra factuel, cite ses sources, bon en recherche web</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Moins fluide, style robotique, pas fait pour la créativité</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35271324"/>
                  </a:ext>
                </a:extLst>
              </a:tr>
              <a:tr h="636329">
                <a:tc>
                  <a:txBody>
                    <a:bodyPr/>
                    <a:lstStyle/>
                    <a:p>
                      <a:pPr marL="457200">
                        <a:buNone/>
                      </a:pPr>
                      <a:r>
                        <a:rPr lang="fr-FR" sz="900" b="1" cap="none" spc="0">
                          <a:solidFill>
                            <a:schemeClr val="tx1"/>
                          </a:solidFill>
                          <a:effectLst/>
                        </a:rPr>
                        <a:t>Claude (Anthropic)</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Très clair, bienveillant, excellent sur de longues consignes complexes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Trop prudent, parfois flou ou moraliste, ne donne pas toujours de réponse directe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36433105"/>
                  </a:ext>
                </a:extLst>
              </a:tr>
              <a:tr h="497065">
                <a:tc>
                  <a:txBody>
                    <a:bodyPr/>
                    <a:lstStyle/>
                    <a:p>
                      <a:pPr marL="457200">
                        <a:buNone/>
                      </a:pPr>
                      <a:r>
                        <a:rPr lang="fr-FR" sz="900" b="1" cap="none" spc="0">
                          <a:solidFill>
                            <a:schemeClr val="tx1"/>
                          </a:solidFill>
                          <a:effectLst/>
                        </a:rPr>
                        <a:t>Le Chat (Mistral AI)</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marL="457200">
                        <a:buNone/>
                      </a:pPr>
                      <a:r>
                        <a:rPr lang="fr-FR" sz="900" cap="none" spc="0">
                          <a:solidFill>
                            <a:schemeClr val="tx1"/>
                          </a:solidFill>
                          <a:effectLst/>
                        </a:rPr>
                        <a:t>Réactif, français natif (bon ton local), rapide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marL="457200">
                        <a:buNone/>
                      </a:pPr>
                      <a:r>
                        <a:rPr lang="fr-FR" sz="900" cap="none" spc="0">
                          <a:solidFill>
                            <a:schemeClr val="tx1"/>
                          </a:solidFill>
                          <a:effectLst/>
                        </a:rPr>
                        <a:t>Style sec, pas encore très contextuel, hallucine parfois beaucoup</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726857050"/>
                  </a:ext>
                </a:extLst>
              </a:tr>
            </a:tbl>
          </a:graphicData>
        </a:graphic>
      </p:graphicFrame>
    </p:spTree>
    <p:extLst>
      <p:ext uri="{BB962C8B-B14F-4D97-AF65-F5344CB8AC3E}">
        <p14:creationId xmlns:p14="http://schemas.microsoft.com/office/powerpoint/2010/main" val="319608780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946EA1-DB22-AE31-8EC3-52B5ECBA769B}"/>
              </a:ext>
            </a:extLst>
          </p:cNvPr>
          <p:cNvSpPr>
            <a:spLocks noGrp="1"/>
          </p:cNvSpPr>
          <p:nvPr>
            <p:ph type="title"/>
          </p:nvPr>
        </p:nvSpPr>
        <p:spPr>
          <a:xfrm>
            <a:off x="628650" y="922375"/>
            <a:ext cx="7886700" cy="994172"/>
          </a:xfrm>
        </p:spPr>
        <p:txBody>
          <a:bodyPr anchor="ctr">
            <a:normAutofit/>
          </a:bodyPr>
          <a:lstStyle/>
          <a:p>
            <a:r>
              <a:rPr lang="fr-FR"/>
              <a:t>Synthèse des apprentissages</a:t>
            </a:r>
          </a:p>
        </p:txBody>
      </p:sp>
      <p:pic>
        <p:nvPicPr>
          <p:cNvPr id="5" name="Espace réservé du contenu 4" descr="Résolution 4K">
            <a:extLst>
              <a:ext uri="{FF2B5EF4-FFF2-40B4-BE49-F238E27FC236}">
                <a16:creationId xmlns:a16="http://schemas.microsoft.com/office/drawing/2014/main" id="{F60253EE-258A-4ECE-A191-AB76632D3D1B}"/>
              </a:ext>
            </a:extLst>
          </p:cNvPr>
          <p:cNvPicPr>
            <a:picLocks noGrp="1" noChangeAspect="1"/>
          </p:cNvPicPr>
          <p:nvPr>
            <p:ph sz="half" idx="1"/>
          </p:nvPr>
        </p:nvPicPr>
        <p:blipFill>
          <a:blip r:embed="rId3"/>
          <a:srcRect l="17078" r="15939" b="-1"/>
          <a:stretch>
            <a:fillRect/>
          </a:stretch>
        </p:blipFill>
        <p:spPr>
          <a:xfrm>
            <a:off x="628650" y="2226469"/>
            <a:ext cx="3886200" cy="3263504"/>
          </a:xfrm>
          <a:prstGeom prst="rect">
            <a:avLst/>
          </a:prstGeom>
          <a:noFill/>
        </p:spPr>
      </p:pic>
      <p:sp>
        <p:nvSpPr>
          <p:cNvPr id="4" name="Espace réservé du contenu 3">
            <a:extLst>
              <a:ext uri="{FF2B5EF4-FFF2-40B4-BE49-F238E27FC236}">
                <a16:creationId xmlns:a16="http://schemas.microsoft.com/office/drawing/2014/main" id="{FDEB2B43-7A3F-42B1-EFFC-B3DFD9AF252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29150" y="2226469"/>
            <a:ext cx="3886200" cy="3263504"/>
          </a:xfrm>
        </p:spPr>
        <p:txBody>
          <a:bodyPr>
            <a:normAutofit/>
          </a:bodyPr>
          <a:lstStyle/>
          <a:p>
            <a:pPr marL="0" indent="0">
              <a:spcBef>
                <a:spcPts val="1875"/>
              </a:spcBef>
              <a:buNone/>
            </a:pPr>
            <a:r>
              <a:rPr lang="fr-FR" sz="1050" b="1"/>
              <a:t>Variété des IA</a:t>
            </a:r>
          </a:p>
          <a:p>
            <a:pPr marL="0" lvl="1" indent="0">
              <a:buNone/>
            </a:pPr>
            <a:r>
              <a:rPr lang="fr-FR" sz="1050"/>
              <a:t>Il n’existe pas une IA meilleure, mais une diversité d’IA adaptées à différents besoins et contextes.</a:t>
            </a:r>
          </a:p>
          <a:p>
            <a:pPr marL="0" indent="0">
              <a:spcBef>
                <a:spcPts val="1875"/>
              </a:spcBef>
              <a:buNone/>
            </a:pPr>
            <a:r>
              <a:rPr lang="fr-FR" sz="1050" b="1"/>
              <a:t>Contexte et usage</a:t>
            </a:r>
          </a:p>
          <a:p>
            <a:pPr marL="0" lvl="1" indent="0">
              <a:buNone/>
            </a:pPr>
            <a:r>
              <a:rPr lang="fr-FR" sz="1050"/>
              <a:t>Le choix de l’outil d’IA approprié dépend de votre contexte, de l’usage prévu et de vos objectifs spécifiques.</a:t>
            </a:r>
          </a:p>
          <a:p>
            <a:pPr marL="0" indent="0">
              <a:spcBef>
                <a:spcPts val="1875"/>
              </a:spcBef>
              <a:buNone/>
            </a:pPr>
            <a:r>
              <a:rPr lang="fr-FR" sz="1050" b="1"/>
              <a:t>Tester plusieurs IA</a:t>
            </a:r>
          </a:p>
          <a:p>
            <a:pPr marL="0" lvl="1" indent="0">
              <a:buNone/>
            </a:pPr>
            <a:r>
              <a:rPr lang="fr-FR" sz="1050"/>
              <a:t>Essayer différentes IA est essentiel pour faire des choix éclairés et rester conscient des options disponibles.</a:t>
            </a:r>
          </a:p>
        </p:txBody>
      </p:sp>
    </p:spTree>
    <p:extLst>
      <p:ext uri="{BB962C8B-B14F-4D97-AF65-F5344CB8AC3E}">
        <p14:creationId xmlns:p14="http://schemas.microsoft.com/office/powerpoint/2010/main" val="2136942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3445</TotalTime>
  <Words>1600</Words>
  <Application>Microsoft Office PowerPoint</Application>
  <PresentationFormat>Affichage à l'écran (4:3)</PresentationFormat>
  <Paragraphs>155</Paragraphs>
  <Slides>23</Slides>
  <Notes>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Arial</vt:lpstr>
      <vt:lpstr>Monotype Sorts</vt:lpstr>
      <vt:lpstr>Segoe UI Semibold</vt:lpstr>
      <vt:lpstr>Times New Roman</vt:lpstr>
      <vt:lpstr>Wingdings</vt:lpstr>
      <vt:lpstr>cvc</vt:lpstr>
      <vt:lpstr>Présentation PowerPoint</vt:lpstr>
      <vt:lpstr>Définition et importance du prompt</vt:lpstr>
      <vt:lpstr>Conseils pour bien formuler un prompt</vt:lpstr>
      <vt:lpstr>Testez!!  Tous les jours des idées pour prompter sont sur les réseaux.</vt:lpstr>
      <vt:lpstr>Un nouveau métier</vt:lpstr>
      <vt:lpstr>Prompt Engineering</vt:lpstr>
      <vt:lpstr>Qu’est-ce qu’un prompt ?</vt:lpstr>
      <vt:lpstr>Qu’est-ce que le prompt engineering ?</vt:lpstr>
      <vt:lpstr>Soyez clair et précis</vt:lpstr>
      <vt:lpstr>Contexte</vt:lpstr>
      <vt:lpstr>Amélioration itérative</vt:lpstr>
      <vt:lpstr>Demander un ton différent</vt:lpstr>
      <vt:lpstr>Prompt simple</vt:lpstr>
      <vt:lpstr>Faites rédiger vos prompts par votre IA! </vt:lpstr>
      <vt:lpstr>1 prompt  3 IA (ou 4 ou 5)</vt:lpstr>
      <vt:lpstr>Objectifs du défi</vt:lpstr>
      <vt:lpstr>La recette</vt:lpstr>
      <vt:lpstr>IA c’est quoi?</vt:lpstr>
      <vt:lpstr>Le résumé</vt:lpstr>
      <vt:lpstr>Testez chez vous</vt:lpstr>
      <vt:lpstr>Avez-vous trouvé des différences?</vt:lpstr>
      <vt:lpstr>En 2026, où ils en sont ?</vt:lpstr>
      <vt:lpstr>Synthèse des apprentissages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252</cp:revision>
  <dcterms:created xsi:type="dcterms:W3CDTF">2000-04-10T19:33:12Z</dcterms:created>
  <dcterms:modified xsi:type="dcterms:W3CDTF">2026-04-08T11:11:18Z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