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65" r:id="rId3"/>
    <p:sldId id="266" r:id="rId4"/>
    <p:sldId id="347" r:id="rId5"/>
    <p:sldId id="267" r:id="rId6"/>
    <p:sldId id="268" r:id="rId7"/>
    <p:sldId id="269" r:id="rId8"/>
    <p:sldId id="270" r:id="rId9"/>
    <p:sldId id="272" r:id="rId10"/>
    <p:sldId id="271" r:id="rId11"/>
    <p:sldId id="273" r:id="rId12"/>
    <p:sldId id="275" r:id="rId13"/>
    <p:sldId id="274" r:id="rId14"/>
    <p:sldId id="533" r:id="rId15"/>
    <p:sldId id="548" r:id="rId16"/>
    <p:sldId id="549" r:id="rId17"/>
    <p:sldId id="550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609015" y="1869334"/>
            <a:ext cx="6400800" cy="1752600"/>
          </a:xfrm>
        </p:spPr>
        <p:txBody>
          <a:bodyPr/>
          <a:lstStyle/>
          <a:p>
            <a:pPr eaLnBrk="1" hangingPunct="1"/>
            <a:r>
              <a:rPr lang="fr-FR" altLang="fr-FR" dirty="0"/>
              <a:t>Chapitre 2</a:t>
            </a:r>
          </a:p>
          <a:p>
            <a:pPr eaLnBrk="1" hangingPunct="1"/>
            <a:r>
              <a:rPr lang="fr-FR" altLang="fr-FR" dirty="0"/>
              <a:t>LLM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771800" y="544153"/>
            <a:ext cx="421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Prompt engineering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B0E3DE-7929-40C3-8F88-CAF151B2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9" y="3429000"/>
            <a:ext cx="9142310" cy="2241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6D9ED-D2D2-BE70-E33B-55423B119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Large </a:t>
            </a:r>
            <a:r>
              <a:rPr lang="fr-FR" dirty="0" err="1"/>
              <a:t>Language</a:t>
            </a:r>
            <a:r>
              <a:rPr lang="fr-FR" dirty="0"/>
              <a:t> Model</a:t>
            </a:r>
          </a:p>
        </p:txBody>
      </p:sp>
      <p:pic>
        <p:nvPicPr>
          <p:cNvPr id="5" name="Picture 4" descr="Figure humaine en bois">
            <a:extLst>
              <a:ext uri="{FF2B5EF4-FFF2-40B4-BE49-F238E27FC236}">
                <a16:creationId xmlns:a16="http://schemas.microsoft.com/office/drawing/2014/main" id="{9A1CFE41-BF0F-8585-1060-B7CDAE61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3856"/>
          <a:stretch>
            <a:fillRect/>
          </a:stretch>
        </p:blipFill>
        <p:spPr>
          <a:xfrm>
            <a:off x="179512" y="1412776"/>
            <a:ext cx="8766051" cy="50405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124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BE04B-1584-F43B-57EA-1DAE77B9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C539AE-3D81-26D3-5DB0-8AA47624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grand modèle de langage est un modèle de langage possédant un grand nombre de paramètres </a:t>
            </a:r>
          </a:p>
          <a:p>
            <a:r>
              <a:rPr lang="fr-FR" dirty="0"/>
              <a:t>Ce sont des réseaux de neurones profonds entraînés sur de grandes quantités de texte non étiqueté utilisant l'apprentissage auto-supervisé</a:t>
            </a:r>
          </a:p>
          <a:p>
            <a:r>
              <a:rPr lang="fr-FR" dirty="0"/>
              <a:t>Les LLM sont apparus vers 2017 et ont été utilisés pour la mise en œuvre d'agents conversationnels.</a:t>
            </a:r>
          </a:p>
        </p:txBody>
      </p:sp>
    </p:spTree>
    <p:extLst>
      <p:ext uri="{BB962C8B-B14F-4D97-AF65-F5344CB8AC3E}">
        <p14:creationId xmlns:p14="http://schemas.microsoft.com/office/powerpoint/2010/main" val="223792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79172-4201-9510-9EEE-AAD2C79E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Lama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8943D-109D-1E2F-7B5C-F39B164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Large </a:t>
            </a:r>
            <a:r>
              <a:rPr lang="fr-FR" sz="2400" dirty="0" err="1"/>
              <a:t>LAnguage</a:t>
            </a:r>
            <a:r>
              <a:rPr lang="fr-FR" sz="2400" dirty="0"/>
              <a:t> Model</a:t>
            </a:r>
          </a:p>
          <a:p>
            <a:pPr lvl="1"/>
            <a:r>
              <a:rPr lang="fr-FR" sz="2000" dirty="0"/>
              <a:t>LLM</a:t>
            </a:r>
          </a:p>
          <a:p>
            <a:pPr lvl="1"/>
            <a:r>
              <a:rPr lang="fr-FR" sz="2000" dirty="0" err="1"/>
              <a:t>Llama</a:t>
            </a:r>
            <a:endParaRPr lang="fr-FR" sz="2000" dirty="0"/>
          </a:p>
          <a:p>
            <a:r>
              <a:rPr lang="fr-FR" sz="2400" dirty="0" err="1"/>
              <a:t>OpenAI</a:t>
            </a:r>
            <a:endParaRPr lang="fr-FR" sz="2400" dirty="0"/>
          </a:p>
          <a:p>
            <a:pPr lvl="1"/>
            <a:r>
              <a:rPr lang="fr-FR" sz="2000" dirty="0" err="1"/>
              <a:t>ChatGPT</a:t>
            </a:r>
            <a:endParaRPr lang="fr-FR" sz="2000" dirty="0"/>
          </a:p>
          <a:p>
            <a:r>
              <a:rPr lang="fr-FR" sz="2400" dirty="0"/>
              <a:t>Mistral</a:t>
            </a:r>
          </a:p>
          <a:p>
            <a:r>
              <a:rPr lang="fr-FR" sz="2400" dirty="0" err="1"/>
              <a:t>Anthropic</a:t>
            </a:r>
            <a:endParaRPr lang="fr-FR" sz="2400" dirty="0"/>
          </a:p>
          <a:p>
            <a:pPr lvl="1"/>
            <a:r>
              <a:rPr lang="fr-FR" sz="2000" dirty="0"/>
              <a:t>Claude</a:t>
            </a:r>
          </a:p>
          <a:p>
            <a:r>
              <a:rPr lang="fr-FR" sz="2400" dirty="0" err="1"/>
              <a:t>DeepSeek</a:t>
            </a:r>
            <a:endParaRPr lang="fr-FR" sz="2400" dirty="0"/>
          </a:p>
          <a:p>
            <a:r>
              <a:rPr lang="fr-FR" sz="2400" dirty="0"/>
              <a:t>Facebook</a:t>
            </a:r>
          </a:p>
          <a:p>
            <a:r>
              <a:rPr lang="fr-FR" sz="2400" dirty="0"/>
              <a:t>Google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46DD2-C313-9D5A-5F3B-74C05D12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24" y="3212974"/>
            <a:ext cx="3851920" cy="2463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16D0C2-68B8-4E02-BD16-7FD10695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07" y="2052086"/>
            <a:ext cx="3134162" cy="8764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F489FE-CAB2-2304-3B61-5E7CF9F4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815" y="3140802"/>
            <a:ext cx="933580" cy="10383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20BEEE-9524-4BFB-9F09-CCD0BCA00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14" y="4036679"/>
            <a:ext cx="2924583" cy="5525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E1AB00-A3C5-F60F-61DB-669090CD6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203" y="4584748"/>
            <a:ext cx="2304008" cy="8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9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E917F5-F3D9-B210-6EA5-D78A239C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DC9695-342E-4EE2-E735-180D400EC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r>
              <a:rPr lang="fr-FR" dirty="0"/>
              <a:t> 5</a:t>
            </a:r>
          </a:p>
          <a:p>
            <a:r>
              <a:rPr lang="fr-FR" dirty="0"/>
              <a:t>2022</a:t>
            </a:r>
          </a:p>
          <a:p>
            <a:r>
              <a:rPr lang="fr-FR" dirty="0"/>
              <a:t>USA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79C4943-9BBE-6106-2EB9-49F23C965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614" y="3361476"/>
            <a:ext cx="3019846" cy="11431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4DE30CF-CEAA-8B21-9A97-91510675D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615" y="89069"/>
            <a:ext cx="3096344" cy="119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6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3EEFC-79D1-F651-CCF8-4667F8DB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01900C-82A0-3407-B78C-BAA7C32D1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Claude 4</a:t>
            </a:r>
          </a:p>
          <a:p>
            <a:r>
              <a:rPr lang="fr-FR" dirty="0"/>
              <a:t>2023</a:t>
            </a:r>
          </a:p>
          <a:p>
            <a:r>
              <a:rPr lang="fr-FR" dirty="0"/>
              <a:t>USA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9575B4-593E-E827-16C6-C3AE720B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22682"/>
            <a:ext cx="5039428" cy="92405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C7B6410-23F2-7D51-4BB0-F0BEE673A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3140968"/>
            <a:ext cx="3258005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2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3DEFF-56DF-2A36-14E4-88D1F1E9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DeepSeek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FE48D-A7E8-5972-31F9-B17CE3F67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DeepSeek</a:t>
            </a:r>
            <a:endParaRPr lang="fr-FR" dirty="0"/>
          </a:p>
          <a:p>
            <a:r>
              <a:rPr lang="fr-FR" dirty="0"/>
              <a:t>2023</a:t>
            </a:r>
          </a:p>
          <a:p>
            <a:r>
              <a:rPr lang="fr-FR" dirty="0"/>
              <a:t>Chine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10EC59-2B7D-FC25-7AF4-AD2E10408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284984"/>
            <a:ext cx="5420481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7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8DAB67-A69E-30D9-0EE9-36B72F25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0768C-D35F-717D-2F6C-A6CCB65A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chat</a:t>
            </a:r>
          </a:p>
          <a:p>
            <a:r>
              <a:rPr lang="fr-FR" dirty="0"/>
              <a:t>2024</a:t>
            </a:r>
          </a:p>
          <a:p>
            <a:r>
              <a:rPr lang="fr-FR" dirty="0"/>
              <a:t>France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4ADCAC-A330-726E-DB36-BC87B8FB6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06159"/>
            <a:ext cx="4138633" cy="9571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D4FAF0-5853-3702-5756-BB3F0019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429000"/>
            <a:ext cx="4601217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C49A-39ED-5DD6-653E-3184FE4C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09CAF-ADF7-A4F1-C53E-9CB7596A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D4F44-E358-4872-CD01-3F441087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</a:t>
            </a:r>
          </a:p>
          <a:p>
            <a:r>
              <a:rPr lang="fr-FR" dirty="0"/>
              <a:t>Bert</a:t>
            </a:r>
          </a:p>
          <a:p>
            <a:r>
              <a:rPr lang="fr-FR" dirty="0"/>
              <a:t>2018</a:t>
            </a:r>
          </a:p>
          <a:p>
            <a:pPr lvl="1"/>
            <a:r>
              <a:rPr lang="fr-FR" dirty="0"/>
              <a:t>Le 1</a:t>
            </a:r>
            <a:r>
              <a:rPr lang="fr-FR" baseline="30000" dirty="0"/>
              <a:t>er</a:t>
            </a:r>
            <a:endParaRPr lang="fr-FR" dirty="0"/>
          </a:p>
          <a:p>
            <a:pPr lvl="1"/>
            <a:r>
              <a:rPr lang="fr-FR" dirty="0"/>
              <a:t>N'existe plus aujourd'hui</a:t>
            </a:r>
          </a:p>
          <a:p>
            <a:r>
              <a:rPr lang="fr-FR" dirty="0"/>
              <a:t>USA</a:t>
            </a:r>
          </a:p>
        </p:txBody>
      </p:sp>
      <p:pic>
        <p:nvPicPr>
          <p:cNvPr id="1026" name="Picture 2" descr="logo de Google DeepMind">
            <a:extLst>
              <a:ext uri="{FF2B5EF4-FFF2-40B4-BE49-F238E27FC236}">
                <a16:creationId xmlns:a16="http://schemas.microsoft.com/office/drawing/2014/main" id="{BFB93007-9C46-B4FC-9373-0B8E8679C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0"/>
            <a:ext cx="4392538" cy="105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971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8354A-C2F9-2F62-613F-A18F3B8F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490063-ECAE-9074-330B-65E9AB83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</a:t>
            </a:r>
            <a:r>
              <a:rPr lang="fr-FR" dirty="0" err="1"/>
              <a:t>Deepmind</a:t>
            </a:r>
            <a:endParaRPr lang="fr-FR" dirty="0"/>
          </a:p>
          <a:p>
            <a:r>
              <a:rPr lang="fr-FR" dirty="0"/>
              <a:t>Gemini</a:t>
            </a:r>
          </a:p>
          <a:p>
            <a:r>
              <a:rPr lang="fr-FR" dirty="0"/>
              <a:t>2023</a:t>
            </a:r>
          </a:p>
          <a:p>
            <a:r>
              <a:rPr lang="fr-FR" dirty="0"/>
              <a:t>USA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DB9AA02-008E-48DF-677C-AB202A091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429000"/>
            <a:ext cx="3038899" cy="1162212"/>
          </a:xfrm>
          <a:prstGeom prst="rect">
            <a:avLst/>
          </a:prstGeom>
        </p:spPr>
      </p:pic>
      <p:pic>
        <p:nvPicPr>
          <p:cNvPr id="8" name="Picture 2" descr="logo de Google DeepMind">
            <a:extLst>
              <a:ext uri="{FF2B5EF4-FFF2-40B4-BE49-F238E27FC236}">
                <a16:creationId xmlns:a16="http://schemas.microsoft.com/office/drawing/2014/main" id="{AF17A4A1-4943-05B2-6FBD-FB8D8E93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0"/>
            <a:ext cx="4392538" cy="105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54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70706-B60B-543D-EA34-017FCF4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B1D9A0-D9A2-7309-FB87-1723BF84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Llama</a:t>
            </a:r>
            <a:r>
              <a:rPr lang="fr-FR" dirty="0"/>
              <a:t> 4</a:t>
            </a:r>
          </a:p>
          <a:p>
            <a:r>
              <a:rPr lang="fr-FR" dirty="0"/>
              <a:t>2023</a:t>
            </a:r>
          </a:p>
          <a:p>
            <a:r>
              <a:rPr lang="fr-FR" dirty="0"/>
              <a:t>USA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9319F4-F7AB-6AA0-115D-131B0FF88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03227"/>
            <a:ext cx="3362794" cy="11812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1B1AFDF-429F-D7E8-7295-5741617BB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804" y="3897897"/>
            <a:ext cx="464884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43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C0B034-A483-8715-E79F-B2EE6621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Microsoft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A51AE8-C8C1-7BAB-3217-761570D54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82984"/>
            <a:ext cx="8766051" cy="5040560"/>
          </a:xfrm>
        </p:spPr>
        <p:txBody>
          <a:bodyPr/>
          <a:lstStyle/>
          <a:p>
            <a:r>
              <a:rPr lang="fr-FR" dirty="0" err="1"/>
              <a:t>Copilot</a:t>
            </a:r>
            <a:endParaRPr lang="fr-FR" dirty="0"/>
          </a:p>
          <a:p>
            <a:r>
              <a:rPr lang="fr-FR" dirty="0"/>
              <a:t>Interface Windows de </a:t>
            </a:r>
            <a:r>
              <a:rPr lang="fr-FR" dirty="0" err="1"/>
              <a:t>ChatGPT</a:t>
            </a:r>
            <a:endParaRPr lang="fr-FR" dirty="0"/>
          </a:p>
        </p:txBody>
      </p:sp>
      <p:pic>
        <p:nvPicPr>
          <p:cNvPr id="2050" name="Picture 2" descr="Microsoft Copilot : boostez la productivité de votre entreprise | Eskape">
            <a:extLst>
              <a:ext uri="{FF2B5EF4-FFF2-40B4-BE49-F238E27FC236}">
                <a16:creationId xmlns:a16="http://schemas.microsoft.com/office/drawing/2014/main" id="{AF8154E7-CCFA-1B31-679D-5B3F04F2F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112" y="3140968"/>
            <a:ext cx="5241776" cy="150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51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CCD80-13E0-7377-3CA2-351BEEC9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037D1A-C503-36BA-2D5D-ABDFBFB8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plupart des LLM sont accessible par un </a:t>
            </a:r>
            <a:r>
              <a:rPr lang="fr-FR" dirty="0" err="1"/>
              <a:t>ChatBot</a:t>
            </a:r>
            <a:r>
              <a:rPr lang="fr-FR" dirty="0"/>
              <a:t> Web ou téléphone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4093A1-283B-0F6B-B386-351783561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2246"/>
            <a:ext cx="9144000" cy="212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7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E4757-9B75-45D4-110D-5D9A9450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FFD447-BB8D-8AF7-9B1D-8AEF53B4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9" y="994755"/>
            <a:ext cx="6940295" cy="5005995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302B7C8-93CB-EC1E-DCAC-AFC8C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174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AE58E-75C5-4DE4-8EB6-22BD66D3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un LLM fonctionne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7A39D-C744-9DAD-EAD5-25F102A5F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fonctionnent en 3 parties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tokenizer</a:t>
            </a:r>
            <a:endParaRPr lang="fr-FR" dirty="0"/>
          </a:p>
          <a:p>
            <a:pPr lvl="1"/>
            <a:r>
              <a:rPr lang="fr-FR" dirty="0"/>
              <a:t>Un encoder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decoder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CA10AC-030B-D2A1-826A-464FD55D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3717032"/>
            <a:ext cx="839269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02E54-5ECB-9C52-C714-D1FE27B7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DA365-07EB-AFE6-D329-39E5A89D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9ED587-AAB8-8ABB-FC90-54A180D2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2" y="136248"/>
            <a:ext cx="8573696" cy="25530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4F28D3-E97D-461D-4F20-4CA0F348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449505"/>
            <a:ext cx="638665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88561-F15E-4F29-D810-7DC7E69F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Token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8D299B-791C-FF5E-D06D-2364049BB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token</a:t>
            </a:r>
            <a:r>
              <a:rPr lang="fr-FR" dirty="0"/>
              <a:t> est l'unité du LLM</a:t>
            </a:r>
          </a:p>
          <a:p>
            <a:pPr lvl="1"/>
            <a:r>
              <a:rPr lang="fr-FR" dirty="0"/>
              <a:t>Facturation</a:t>
            </a:r>
          </a:p>
          <a:p>
            <a:r>
              <a:rPr lang="fr-FR" dirty="0"/>
              <a:t>1 </a:t>
            </a:r>
            <a:r>
              <a:rPr lang="fr-FR" dirty="0" err="1"/>
              <a:t>token</a:t>
            </a:r>
            <a:r>
              <a:rPr lang="fr-FR" dirty="0"/>
              <a:t> ~= 0.75 caractères</a:t>
            </a:r>
          </a:p>
          <a:p>
            <a:r>
              <a:rPr lang="fr-FR"/>
              <a:t>De </a:t>
            </a:r>
            <a:r>
              <a:rPr lang="fr-FR" dirty="0"/>
              <a:t>5K à 50K caractères par prompts</a:t>
            </a:r>
          </a:p>
          <a:p>
            <a:pPr lvl="1"/>
            <a:r>
              <a:rPr lang="fr-FR" dirty="0"/>
              <a:t>Soit 6K à 65K </a:t>
            </a:r>
            <a:r>
              <a:rPr lang="fr-FR" dirty="0" err="1"/>
              <a:t>tokens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9969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3423</TotalTime>
  <Words>174</Words>
  <Application>Microsoft Office PowerPoint</Application>
  <PresentationFormat>Affichage à l'écran (4:3)</PresentationFormat>
  <Paragraphs>63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Monotype Sorts</vt:lpstr>
      <vt:lpstr>Times New Roman</vt:lpstr>
      <vt:lpstr>cvc</vt:lpstr>
      <vt:lpstr>Présentation PowerPoint</vt:lpstr>
      <vt:lpstr>Large Language Model</vt:lpstr>
      <vt:lpstr>LLM</vt:lpstr>
      <vt:lpstr>Un Lama ?</vt:lpstr>
      <vt:lpstr>OpenAI</vt:lpstr>
      <vt:lpstr>Présentation PowerPoint</vt:lpstr>
      <vt:lpstr>DeepSeek</vt:lpstr>
      <vt:lpstr>Présentation PowerPoint</vt:lpstr>
      <vt:lpstr>Présentation PowerPoint</vt:lpstr>
      <vt:lpstr>Présentation PowerPoint</vt:lpstr>
      <vt:lpstr>Présentation PowerPoint</vt:lpstr>
      <vt:lpstr>Microsoft</vt:lpstr>
      <vt:lpstr>Web</vt:lpstr>
      <vt:lpstr>Présentation PowerPoint</vt:lpstr>
      <vt:lpstr>Comment un LLM fonctionne ?</vt:lpstr>
      <vt:lpstr>Présentation PowerPoint</vt:lpstr>
      <vt:lpstr>Token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249</cp:revision>
  <dcterms:created xsi:type="dcterms:W3CDTF">2000-04-10T19:33:12Z</dcterms:created>
  <dcterms:modified xsi:type="dcterms:W3CDTF">2026-03-30T13:30:41Z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